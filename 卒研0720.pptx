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17"/>
  </p:notesMasterIdLst>
  <p:sldIdLst>
    <p:sldId id="256" r:id="rId3"/>
    <p:sldId id="257" r:id="rId4"/>
    <p:sldId id="258" r:id="rId5"/>
    <p:sldId id="261" r:id="rId6"/>
    <p:sldId id="265" r:id="rId7"/>
    <p:sldId id="266" r:id="rId8"/>
    <p:sldId id="267" r:id="rId9"/>
    <p:sldId id="268" r:id="rId10"/>
    <p:sldId id="259" r:id="rId11"/>
    <p:sldId id="271" r:id="rId12"/>
    <p:sldId id="260" r:id="rId13"/>
    <p:sldId id="264" r:id="rId14"/>
    <p:sldId id="273" r:id="rId15"/>
    <p:sldId id="27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54884" autoAdjust="0"/>
  </p:normalViewPr>
  <p:slideViewPr>
    <p:cSldViewPr snapToGrid="0" showGuides="1">
      <p:cViewPr varScale="1">
        <p:scale>
          <a:sx n="42" d="100"/>
          <a:sy n="42" d="100"/>
        </p:scale>
        <p:origin x="156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08E44C-88FE-4CB3-BA67-BDA14DE8E7FD}" type="datetimeFigureOut">
              <a:rPr kumimoji="1" lang="ja-JP" altLang="en-US" smtClean="0"/>
              <a:t>2020/8/2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8433F-FF2C-4656-A5B1-2C2FB4951A01}" type="slidenum">
              <a:rPr kumimoji="1" lang="ja-JP" altLang="en-US" smtClean="0"/>
              <a:t>‹#›</a:t>
            </a:fld>
            <a:endParaRPr kumimoji="1" lang="ja-JP" altLang="en-US"/>
          </a:p>
        </p:txBody>
      </p:sp>
    </p:spTree>
    <p:extLst>
      <p:ext uri="{BB962C8B-B14F-4D97-AF65-F5344CB8AC3E}">
        <p14:creationId xmlns:p14="http://schemas.microsoft.com/office/powerpoint/2010/main" val="5202372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ja.wikipedia.org/wiki/%E3%82%B3%E3%83%B3%E3%83%94%E3%83%A5%E3%83%BC%E3%82%BF%E3%82%A6%E3%82%A4%E3%83%AB%E3%82%B9"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ja.wikipedia.org/wiki/%E9%9B%BB%E5%AD%90%E3%83%A1%E3%83%BC%E3%83%AB"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研究背景として、</a:t>
            </a:r>
            <a:r>
              <a:rPr kumimoji="1" lang="en-US" altLang="ja-JP" dirty="0"/>
              <a:t>IT</a:t>
            </a:r>
            <a:r>
              <a:rPr kumimoji="1" lang="ja-JP" altLang="en-US" dirty="0"/>
              <a:t>化が進み、不正アクセスの被害が多く</a:t>
            </a:r>
            <a:r>
              <a:rPr lang="ja-JP" altLang="en-US" dirty="0"/>
              <a:t>ニュースに取り上げられています。その中で、</a:t>
            </a:r>
            <a:r>
              <a:rPr kumimoji="1" lang="ja-JP" altLang="en-US" dirty="0"/>
              <a:t>不正アクセスを防ぎ被害を減少させることが重要視されています。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C498433F-FF2C-4656-A5B1-2C2FB4951A01}" type="slidenum">
              <a:rPr kumimoji="1" lang="ja-JP" altLang="en-US" smtClean="0"/>
              <a:t>2</a:t>
            </a:fld>
            <a:endParaRPr kumimoji="1" lang="ja-JP" altLang="en-US"/>
          </a:p>
        </p:txBody>
      </p:sp>
    </p:spTree>
    <p:extLst>
      <p:ext uri="{BB962C8B-B14F-4D97-AF65-F5344CB8AC3E}">
        <p14:creationId xmlns:p14="http://schemas.microsoft.com/office/powerpoint/2010/main" val="459986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研究目的は、不正アクセスには一般的にはファイアウォールなどがあり私はこの不正アクセスを防止する研究をしていきたいと思っています。</a:t>
            </a:r>
          </a:p>
          <a:p>
            <a:r>
              <a:rPr lang="ja-JP" altLang="en-US" dirty="0"/>
              <a:t>より多くの被害の拡大を防ぐとともに不正アクセスを遮断することができます。</a:t>
            </a: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C498433F-FF2C-4656-A5B1-2C2FB4951A01}" type="slidenum">
              <a:rPr kumimoji="1" lang="ja-JP" altLang="en-US" smtClean="0"/>
              <a:t>3</a:t>
            </a:fld>
            <a:endParaRPr kumimoji="1" lang="ja-JP" altLang="en-US"/>
          </a:p>
        </p:txBody>
      </p:sp>
    </p:spTree>
    <p:extLst>
      <p:ext uri="{BB962C8B-B14F-4D97-AF65-F5344CB8AC3E}">
        <p14:creationId xmlns:p14="http://schemas.microsoft.com/office/powerpoint/2010/main" val="603315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ファイアウォールは、</a:t>
            </a:r>
            <a:r>
              <a:rPr lang="ja-JP" altLang="en-US" sz="1200" dirty="0"/>
              <a:t>不正を防ぎ、機密性を高めるセキュリティ技術です。信頼できない外部ネットワークの攻撃から内部ネットワークを保護するシステムです。</a:t>
            </a:r>
            <a:endParaRPr lang="en-US" altLang="ja-JP" sz="1200" dirty="0"/>
          </a:p>
          <a:p>
            <a:r>
              <a:rPr kumimoji="1" lang="ja-JP" altLang="en-US" dirty="0"/>
              <a:t>基本機能としてパケットフィルタリング型があります。</a:t>
            </a:r>
          </a:p>
        </p:txBody>
      </p:sp>
      <p:sp>
        <p:nvSpPr>
          <p:cNvPr id="4" name="スライド番号プレースホルダー 3"/>
          <p:cNvSpPr>
            <a:spLocks noGrp="1"/>
          </p:cNvSpPr>
          <p:nvPr>
            <p:ph type="sldNum" sz="quarter" idx="5"/>
          </p:nvPr>
        </p:nvSpPr>
        <p:spPr/>
        <p:txBody>
          <a:bodyPr/>
          <a:lstStyle/>
          <a:p>
            <a:fld id="{3B8C64B6-04A0-4EDB-BAAB-287FD4DB1413}" type="slidenum">
              <a:rPr kumimoji="1" lang="ja-JP" altLang="en-US" smtClean="0"/>
              <a:t>4</a:t>
            </a:fld>
            <a:endParaRPr kumimoji="1" lang="ja-JP" altLang="en-US"/>
          </a:p>
        </p:txBody>
      </p:sp>
    </p:spTree>
    <p:extLst>
      <p:ext uri="{BB962C8B-B14F-4D97-AF65-F5344CB8AC3E}">
        <p14:creationId xmlns:p14="http://schemas.microsoft.com/office/powerpoint/2010/main" val="3864171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ファイアウォールのデメリット</a:t>
            </a:r>
            <a:r>
              <a:rPr lang="ja-JP" altLang="en-US" dirty="0"/>
              <a:t>は通過する情報の中身が見えないので、きめ細かい制御は出来ません。</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そのことにより、防ぐことのできない不正アクセスが存在します。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solidFill>
                  <a:srgbClr val="000000"/>
                </a:solidFill>
                <a:effectLst/>
              </a:rPr>
              <a:t>しかし、</a:t>
            </a:r>
            <a:r>
              <a:rPr lang="en-US" altLang="ja-JP" dirty="0">
                <a:solidFill>
                  <a:srgbClr val="000000"/>
                </a:solidFill>
                <a:effectLst/>
              </a:rPr>
              <a:t>WAF</a:t>
            </a:r>
            <a:r>
              <a:rPr lang="ja-JP" altLang="en-US" dirty="0">
                <a:solidFill>
                  <a:srgbClr val="000000"/>
                </a:solidFill>
                <a:effectLst/>
              </a:rPr>
              <a:t>は、それらの攻撃を防御することが出来ます。</a:t>
            </a:r>
          </a:p>
          <a:p>
            <a:endParaRPr lang="en-US" altLang="ja-JP" dirty="0"/>
          </a:p>
        </p:txBody>
      </p:sp>
      <p:sp>
        <p:nvSpPr>
          <p:cNvPr id="4" name="スライド番号プレースホルダー 3"/>
          <p:cNvSpPr>
            <a:spLocks noGrp="1"/>
          </p:cNvSpPr>
          <p:nvPr>
            <p:ph type="sldNum" sz="quarter" idx="5"/>
          </p:nvPr>
        </p:nvSpPr>
        <p:spPr/>
        <p:txBody>
          <a:bodyPr/>
          <a:lstStyle/>
          <a:p>
            <a:fld id="{3B8C64B6-04A0-4EDB-BAAB-287FD4DB1413}" type="slidenum">
              <a:rPr kumimoji="1" lang="ja-JP" altLang="en-US" smtClean="0"/>
              <a:t>5</a:t>
            </a:fld>
            <a:endParaRPr kumimoji="1" lang="ja-JP" altLang="en-US"/>
          </a:p>
        </p:txBody>
      </p:sp>
    </p:spTree>
    <p:extLst>
      <p:ext uri="{BB962C8B-B14F-4D97-AF65-F5344CB8AC3E}">
        <p14:creationId xmlns:p14="http://schemas.microsoft.com/office/powerpoint/2010/main" val="1853403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WAF</a:t>
            </a:r>
            <a:r>
              <a:rPr lang="ja-JP" altLang="en-US" dirty="0"/>
              <a:t>の特徴として</a:t>
            </a:r>
            <a:r>
              <a:rPr lang="ja-JP" altLang="en-US"/>
              <a:t>は、パケット</a:t>
            </a:r>
            <a:r>
              <a:rPr lang="ja-JP" altLang="en-US" dirty="0"/>
              <a:t>情報に加え、アプリケーションのレベルで細かくアクセス制限ができます。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そのことにより一般的なファイアウォールでは防ぐことのできなかった攻撃、</a:t>
            </a:r>
            <a:r>
              <a:rPr lang="en-US" altLang="ja-JP" dirty="0"/>
              <a:t>Web</a:t>
            </a:r>
            <a:r>
              <a:rPr lang="ja-JP" altLang="en-US" dirty="0"/>
              <a:t>サイトの攻撃の例として</a:t>
            </a:r>
            <a:r>
              <a:rPr lang="en-US" altLang="ja-JP" dirty="0"/>
              <a:t>SQL</a:t>
            </a:r>
            <a:r>
              <a:rPr lang="ja-JP" altLang="en-US" dirty="0"/>
              <a:t>インジェクション、クロスサイトスクリプティングに対応し、防御することが可能です。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WAF</a:t>
            </a:r>
            <a:r>
              <a:rPr lang="ja-JP" altLang="en-US" dirty="0"/>
              <a:t>の仕組みとして、プログラムに渡される入力内容などを直接に検査することによって、不正と見なされたアクセス要求を遮断します。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3B8C64B6-04A0-4EDB-BAAB-287FD4DB1413}" type="slidenum">
              <a:rPr kumimoji="1" lang="ja-JP" altLang="en-US" smtClean="0"/>
              <a:t>6</a:t>
            </a:fld>
            <a:endParaRPr kumimoji="1" lang="ja-JP" altLang="en-US"/>
          </a:p>
        </p:txBody>
      </p:sp>
    </p:spTree>
    <p:extLst>
      <p:ext uri="{BB962C8B-B14F-4D97-AF65-F5344CB8AC3E}">
        <p14:creationId xmlns:p14="http://schemas.microsoft.com/office/powerpoint/2010/main" val="2918660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WAF</a:t>
            </a:r>
            <a:r>
              <a:rPr kumimoji="1" lang="ja-JP" altLang="en-US" dirty="0"/>
              <a:t>は、</a:t>
            </a:r>
            <a:r>
              <a:rPr kumimoji="1" lang="en-US" altLang="ja-JP" dirty="0"/>
              <a:t>Web</a:t>
            </a:r>
            <a:r>
              <a:rPr kumimoji="1" lang="ja-JP" altLang="en-US" dirty="0"/>
              <a:t>アプリケーションに対する攻撃を中心に対応しているため、基本的にファイアウォールが守備範囲としているネットワーク層に対する攻撃には対応していません。</a:t>
            </a:r>
            <a:endParaRPr kumimoji="1" lang="en-US" altLang="ja-JP" dirty="0"/>
          </a:p>
          <a:p>
            <a:endParaRPr kumimoji="1" lang="en-US" altLang="ja-JP" dirty="0"/>
          </a:p>
          <a:p>
            <a:r>
              <a:rPr lang="ja-JP" altLang="en-US" b="0" i="0" u="none" strike="noStrike" dirty="0">
                <a:solidFill>
                  <a:srgbClr val="202020"/>
                </a:solidFill>
                <a:effectLst/>
                <a:latin typeface="Open Sans"/>
              </a:rPr>
              <a:t>標的型攻撃とは、特定の個人や組織の情報を狙ったサイバー攻撃です。例として、</a:t>
            </a:r>
            <a:r>
              <a:rPr lang="ja-JP" altLang="en-US" b="0" i="0" u="none" strike="noStrike" dirty="0">
                <a:solidFill>
                  <a:srgbClr val="202122"/>
                </a:solidFill>
                <a:effectLst/>
                <a:latin typeface="Arial" panose="020B0604020202020204" pitchFamily="34" charset="0"/>
              </a:rPr>
              <a:t>その組織の構成員宛てに</a:t>
            </a:r>
            <a:r>
              <a:rPr lang="ja-JP" altLang="en-US" b="0" i="0" u="none" strike="noStrike" dirty="0">
                <a:solidFill>
                  <a:srgbClr val="0B0080"/>
                </a:solidFill>
                <a:effectLst/>
                <a:latin typeface="Arial" panose="020B0604020202020204" pitchFamily="34" charset="0"/>
                <a:hlinkClick r:id="rId3" tooltip="コンピュータウイルス"/>
              </a:rPr>
              <a:t>コンピュータウイルス</a:t>
            </a:r>
            <a:r>
              <a:rPr lang="ja-JP" altLang="en-US" b="0" i="0" u="none" strike="noStrike" dirty="0">
                <a:solidFill>
                  <a:srgbClr val="202122"/>
                </a:solidFill>
                <a:effectLst/>
                <a:latin typeface="Arial" panose="020B0604020202020204" pitchFamily="34" charset="0"/>
              </a:rPr>
              <a:t>が添付された</a:t>
            </a:r>
            <a:r>
              <a:rPr lang="ja-JP" altLang="en-US" b="0" i="0" u="none" strike="noStrike" dirty="0">
                <a:solidFill>
                  <a:srgbClr val="0645AD"/>
                </a:solidFill>
                <a:effectLst/>
                <a:latin typeface="Arial" panose="020B0604020202020204" pitchFamily="34" charset="0"/>
                <a:hlinkClick r:id="rId4" tooltip="電子メール"/>
              </a:rPr>
              <a:t>電子メール</a:t>
            </a:r>
            <a:r>
              <a:rPr lang="ja-JP" altLang="en-US" b="0" i="0" u="none" strike="noStrike" dirty="0">
                <a:solidFill>
                  <a:srgbClr val="202122"/>
                </a:solidFill>
                <a:effectLst/>
                <a:latin typeface="Arial" panose="020B0604020202020204" pitchFamily="34" charset="0"/>
              </a:rPr>
              <a:t>を送ることなどによって開始されます。</a:t>
            </a:r>
            <a:endParaRPr kumimoji="1" lang="ja-JP" altLang="en-US" dirty="0"/>
          </a:p>
        </p:txBody>
      </p:sp>
      <p:sp>
        <p:nvSpPr>
          <p:cNvPr id="4" name="スライド番号プレースホルダー 3"/>
          <p:cNvSpPr>
            <a:spLocks noGrp="1"/>
          </p:cNvSpPr>
          <p:nvPr>
            <p:ph type="sldNum" sz="quarter" idx="5"/>
          </p:nvPr>
        </p:nvSpPr>
        <p:spPr/>
        <p:txBody>
          <a:bodyPr/>
          <a:lstStyle/>
          <a:p>
            <a:fld id="{3B8C64B6-04A0-4EDB-BAAB-287FD4DB1413}" type="slidenum">
              <a:rPr kumimoji="1" lang="ja-JP" altLang="en-US" smtClean="0"/>
              <a:t>7</a:t>
            </a:fld>
            <a:endParaRPr kumimoji="1" lang="ja-JP" altLang="en-US"/>
          </a:p>
        </p:txBody>
      </p:sp>
    </p:spTree>
    <p:extLst>
      <p:ext uri="{BB962C8B-B14F-4D97-AF65-F5344CB8AC3E}">
        <p14:creationId xmlns:p14="http://schemas.microsoft.com/office/powerpoint/2010/main" val="147365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まとめ、</a:t>
            </a:r>
            <a:r>
              <a:rPr kumimoji="1" lang="en-US" altLang="ja-JP"/>
              <a:t>WAF</a:t>
            </a:r>
            <a:r>
              <a:rPr kumimoji="1" lang="ja-JP" altLang="en-US" dirty="0"/>
              <a:t>でも防ぐことのできない不正アクセスが存在していることがわかりました。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WAF</a:t>
            </a:r>
            <a:r>
              <a:rPr lang="ja-JP" altLang="en-US" dirty="0"/>
              <a:t>で防ぐことのできない攻撃を防ぐために次に挙げられる論文を紹介します。</a:t>
            </a: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C498433F-FF2C-4656-A5B1-2C2FB4951A01}" type="slidenum">
              <a:rPr kumimoji="1" lang="ja-JP" altLang="en-US" smtClean="0"/>
              <a:t>8</a:t>
            </a:fld>
            <a:endParaRPr kumimoji="1" lang="ja-JP" altLang="en-US"/>
          </a:p>
        </p:txBody>
      </p:sp>
    </p:spTree>
    <p:extLst>
      <p:ext uri="{BB962C8B-B14F-4D97-AF65-F5344CB8AC3E}">
        <p14:creationId xmlns:p14="http://schemas.microsoft.com/office/powerpoint/2010/main" val="3734744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ja-JP" dirty="0"/>
              <a:t>Web</a:t>
            </a:r>
            <a:r>
              <a:rPr kumimoji="1" lang="ja-JP" altLang="en-US" dirty="0"/>
              <a:t>アプリケーションのための攻撃検出と防御という論文です。攻撃検出を行うシステムを設置し，そのシステムがユーザからの </a:t>
            </a:r>
            <a:r>
              <a:rPr kumimoji="1" lang="en-US" altLang="ja-JP" dirty="0"/>
              <a:t>HTTP </a:t>
            </a:r>
            <a:r>
              <a:rPr kumimoji="1" lang="ja-JP" altLang="en-US" dirty="0"/>
              <a:t>リクエストを受け取った際にユーザ属性の状態に応じ，コンテンツ側で用意した </a:t>
            </a:r>
            <a:r>
              <a:rPr kumimoji="1" lang="en-US" altLang="ja-JP" dirty="0"/>
              <a:t>API </a:t>
            </a:r>
            <a:r>
              <a:rPr kumimoji="1" lang="ja-JP" altLang="en-US" dirty="0"/>
              <a:t>を実運用と疑似用に切り替えることで，攻撃手法の取得を行うシステム </a:t>
            </a:r>
            <a:r>
              <a:rPr kumimoji="1" lang="en-US" altLang="ja-JP" dirty="0" err="1"/>
              <a:t>Hoppin</a:t>
            </a:r>
            <a:r>
              <a:rPr kumimoji="1" lang="ja-JP" altLang="en-US" dirty="0"/>
              <a:t>を提案したものです。</a:t>
            </a:r>
            <a:endParaRPr kumimoji="1" lang="en-US" altLang="ja-JP" dirty="0"/>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ja-JP" dirty="0" err="1"/>
              <a:t>Hoppin</a:t>
            </a:r>
            <a:r>
              <a:rPr kumimoji="1" lang="en-US" altLang="ja-JP" dirty="0"/>
              <a:t> </a:t>
            </a:r>
            <a:r>
              <a:rPr kumimoji="1" lang="ja-JP" altLang="en-US" dirty="0"/>
              <a:t>を用いることにより </a:t>
            </a:r>
            <a:r>
              <a:rPr kumimoji="1" lang="en-US" altLang="ja-JP" dirty="0"/>
              <a:t>WAF</a:t>
            </a:r>
            <a:r>
              <a:rPr kumimoji="1" lang="ja-JP" altLang="en-US" dirty="0"/>
              <a:t>では検出することができないなりすまし攻撃、標的型攻撃の検出を可能にしました。また，疑似（ぎじ）用の </a:t>
            </a:r>
            <a:r>
              <a:rPr kumimoji="1" lang="en-US" altLang="ja-JP" dirty="0"/>
              <a:t>API </a:t>
            </a:r>
            <a:r>
              <a:rPr kumimoji="1" lang="ja-JP" altLang="en-US" dirty="0"/>
              <a:t>を利用することによりコンテンツに対して影響を与えることなく攻撃者に攻撃活動を行わることが可能です。</a:t>
            </a:r>
            <a:endParaRPr kumimoji="1" lang="en-US" altLang="ja-JP" dirty="0"/>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 </a:t>
            </a:r>
            <a:endParaRPr kumimoji="1" lang="en-US" altLang="ja-JP" dirty="0"/>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C498433F-FF2C-4656-A5B1-2C2FB4951A01}" type="slidenum">
              <a:rPr kumimoji="1" lang="ja-JP" altLang="en-US" smtClean="0"/>
              <a:t>9</a:t>
            </a:fld>
            <a:endParaRPr kumimoji="1" lang="ja-JP" altLang="en-US"/>
          </a:p>
        </p:txBody>
      </p:sp>
    </p:spTree>
    <p:extLst>
      <p:ext uri="{BB962C8B-B14F-4D97-AF65-F5344CB8AC3E}">
        <p14:creationId xmlns:p14="http://schemas.microsoft.com/office/powerpoint/2010/main" val="1709861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システムとして、攻撃者が </a:t>
            </a:r>
            <a:r>
              <a:rPr kumimoji="1" lang="en-US" altLang="ja-JP" dirty="0" err="1"/>
              <a:t>Hoppin</a:t>
            </a:r>
            <a:r>
              <a:rPr kumimoji="1" lang="en-US" altLang="ja-JP" dirty="0"/>
              <a:t> </a:t>
            </a:r>
            <a:r>
              <a:rPr kumimoji="1" lang="ja-JP" altLang="en-US" dirty="0"/>
              <a:t>に接続を行う際に攻撃検出システムを介して各コンテンツに接続を行います．攻撃検出システムは接続時に接続元の </a:t>
            </a:r>
            <a:r>
              <a:rPr kumimoji="1" lang="en-US" altLang="ja-JP" dirty="0"/>
              <a:t>IP </a:t>
            </a:r>
            <a:r>
              <a:rPr kumimoji="1" lang="ja-JP" altLang="en-US" dirty="0"/>
              <a:t>アドレスをキーとして，ランダムに決定されたコンテンツを紐付けしセッション情報とともにキャッシュを行います．キャッシュされる情報を図に示します。</a:t>
            </a:r>
            <a:endParaRPr kumimoji="1" lang="en-US" altLang="ja-JP" dirty="0"/>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これにより，初回に接続した</a:t>
            </a:r>
            <a:r>
              <a:rPr kumimoji="1" lang="en-US" altLang="ja-JP" dirty="0"/>
              <a:t>IP</a:t>
            </a:r>
            <a:r>
              <a:rPr kumimoji="1" lang="ja-JP" altLang="en-US" dirty="0"/>
              <a:t>アドレスでシステムにより選択されたコンテンツに一定時間接続することが可能になります。</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ユーザ属性の状態は</a:t>
            </a:r>
            <a:r>
              <a:rPr kumimoji="1" lang="en-US" altLang="ja-JP" dirty="0"/>
              <a:t>2</a:t>
            </a:r>
            <a:r>
              <a:rPr kumimoji="1" lang="ja-JP" altLang="en-US" dirty="0"/>
              <a:t>種類あり，通常モードとユーザがシステムに対して攻撃を続けた際に記録モードが存在します．コンテンツ接続時には，</a:t>
            </a:r>
            <a:r>
              <a:rPr kumimoji="1" lang="en-US" altLang="ja-JP" dirty="0"/>
              <a:t>HTTP </a:t>
            </a:r>
            <a:r>
              <a:rPr kumimoji="1" lang="ja-JP" altLang="en-US" dirty="0"/>
              <a:t>リクエストとレスポンスを確認し，</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認証が必要なページに認証なしで接続する場合に返されるステータスコード </a:t>
            </a:r>
            <a:r>
              <a:rPr kumimoji="1" lang="en-US" altLang="ja-JP" dirty="0"/>
              <a:t>403 </a:t>
            </a:r>
            <a:r>
              <a:rPr kumimoji="1" lang="ja-JP" altLang="en-US" dirty="0"/>
              <a:t>やファイルが存在しない場合に返されるステータスコード </a:t>
            </a:r>
            <a:r>
              <a:rPr kumimoji="1" lang="en-US" altLang="ja-JP" dirty="0"/>
              <a:t>404 </a:t>
            </a:r>
            <a:r>
              <a:rPr kumimoji="1" lang="ja-JP" altLang="en-US" dirty="0"/>
              <a:t>などが生じた場合，攻撃の疑いがあると推測し当該セッションのモード切替の値を増加させます．</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この値は閾値を超えると通常モードから記録モードに変更するための値です．</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攻撃者が各コンテンツに用意した認証ページに対して複数回認証に失敗する場合も同様にモード切替の値を増加させ，一定値を超えた場合にセッションに対して記録モードに移行し通信情報の記録を行います．</a:t>
            </a:r>
            <a:endParaRPr kumimoji="1" lang="en-US" altLang="ja-JP" dirty="0"/>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ja-JP" altLang="en-US" dirty="0"/>
              <a:t>現状の</a:t>
            </a:r>
            <a:r>
              <a:rPr kumimoji="1" lang="en-US" altLang="ja-JP" dirty="0" err="1"/>
              <a:t>Hoppin</a:t>
            </a:r>
            <a:r>
              <a:rPr kumimoji="1" lang="ja-JP" altLang="en-US" dirty="0"/>
              <a:t>では</a:t>
            </a:r>
            <a:r>
              <a:rPr kumimoji="1" lang="en-US" altLang="ja-JP" dirty="0"/>
              <a:t>WAF</a:t>
            </a:r>
            <a:r>
              <a:rPr kumimoji="1" lang="ja-JP" altLang="en-US" dirty="0"/>
              <a:t>で可能な攻撃の検出を行うことは不可能です。</a:t>
            </a:r>
            <a:endParaRPr kumimoji="1" lang="en-US" altLang="ja-JP" dirty="0"/>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5"/>
          </p:nvPr>
        </p:nvSpPr>
        <p:spPr/>
        <p:txBody>
          <a:bodyPr/>
          <a:lstStyle/>
          <a:p>
            <a:fld id="{C498433F-FF2C-4656-A5B1-2C2FB4951A01}" type="slidenum">
              <a:rPr kumimoji="1" lang="ja-JP" altLang="en-US" smtClean="0"/>
              <a:t>10</a:t>
            </a:fld>
            <a:endParaRPr kumimoji="1" lang="ja-JP" altLang="en-US"/>
          </a:p>
        </p:txBody>
      </p:sp>
    </p:spTree>
    <p:extLst>
      <p:ext uri="{BB962C8B-B14F-4D97-AF65-F5344CB8AC3E}">
        <p14:creationId xmlns:p14="http://schemas.microsoft.com/office/powerpoint/2010/main" val="3955612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今後の取り組みとして、標的型攻撃の有効性を実証したいです。</a:t>
            </a:r>
            <a:endParaRPr kumimoji="1" lang="en-US" altLang="ja-JP" dirty="0"/>
          </a:p>
        </p:txBody>
      </p:sp>
      <p:sp>
        <p:nvSpPr>
          <p:cNvPr id="4" name="スライド番号プレースホルダー 3"/>
          <p:cNvSpPr>
            <a:spLocks noGrp="1"/>
          </p:cNvSpPr>
          <p:nvPr>
            <p:ph type="sldNum" sz="quarter" idx="5"/>
          </p:nvPr>
        </p:nvSpPr>
        <p:spPr/>
        <p:txBody>
          <a:bodyPr/>
          <a:lstStyle/>
          <a:p>
            <a:fld id="{C498433F-FF2C-4656-A5B1-2C2FB4951A01}" type="slidenum">
              <a:rPr kumimoji="1" lang="ja-JP" altLang="en-US" smtClean="0"/>
              <a:t>11</a:t>
            </a:fld>
            <a:endParaRPr kumimoji="1" lang="ja-JP" altLang="en-US"/>
          </a:p>
        </p:txBody>
      </p:sp>
    </p:spTree>
    <p:extLst>
      <p:ext uri="{BB962C8B-B14F-4D97-AF65-F5344CB8AC3E}">
        <p14:creationId xmlns:p14="http://schemas.microsoft.com/office/powerpoint/2010/main" val="2883755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パケットフィルタリングは、インターネット上の住所を表す</a:t>
            </a:r>
            <a:r>
              <a:rPr kumimoji="1" lang="en-US" altLang="ja-JP" dirty="0"/>
              <a:t>IP</a:t>
            </a:r>
            <a:r>
              <a:rPr kumimoji="1" lang="ja-JP" altLang="en-US" dirty="0"/>
              <a:t>アドレスや通信路を識別するために使われるポート番号に基づいて、通過させたり遮断させたりします。</a:t>
            </a:r>
            <a:endParaRPr kumimoji="1" lang="en-US" altLang="ja-JP" dirty="0"/>
          </a:p>
          <a:p>
            <a:endParaRPr lang="en-US" altLang="ja-JP" dirty="0"/>
          </a:p>
        </p:txBody>
      </p:sp>
      <p:sp>
        <p:nvSpPr>
          <p:cNvPr id="4" name="スライド番号プレースホルダー 3"/>
          <p:cNvSpPr>
            <a:spLocks noGrp="1"/>
          </p:cNvSpPr>
          <p:nvPr>
            <p:ph type="sldNum" sz="quarter" idx="5"/>
          </p:nvPr>
        </p:nvSpPr>
        <p:spPr/>
        <p:txBody>
          <a:bodyPr/>
          <a:lstStyle/>
          <a:p>
            <a:fld id="{3B8C64B6-04A0-4EDB-BAAB-287FD4DB1413}" type="slidenum">
              <a:rPr kumimoji="1" lang="ja-JP" altLang="en-US" smtClean="0"/>
              <a:t>13</a:t>
            </a:fld>
            <a:endParaRPr kumimoji="1" lang="ja-JP" altLang="en-US"/>
          </a:p>
        </p:txBody>
      </p:sp>
    </p:spTree>
    <p:extLst>
      <p:ext uri="{BB962C8B-B14F-4D97-AF65-F5344CB8AC3E}">
        <p14:creationId xmlns:p14="http://schemas.microsoft.com/office/powerpoint/2010/main" val="1783916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C5C1B9-6766-47E9-B986-F9A5FC0D83F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5799BC1-E1CE-4388-B19E-0E94BADB7D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B33A384-A156-4020-BF95-AD7ABF8B3B9F}"/>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81C39488-C404-4E4D-8343-4A498F31019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B7F12F-9FC6-4701-89AE-CE2FBA2D0652}"/>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2973006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FF012F-3949-4842-9AFD-A2CC372AB8C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2B72E0-A8F3-4F2B-848B-5561F1F0B5F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517FCD9-56F7-40BE-9588-12C176935864}"/>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428806BC-52C9-4D24-9C7E-59711E4F3E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F44997-6081-4EB9-BAE4-3431522DC9BE}"/>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66469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023FA-F681-407C-B948-394C2CA41E7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49B8A10-9358-417D-ABA5-4A6EB4AA0D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877A2DE-E847-42C2-B635-057F97231BF1}"/>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3F2D9C2B-E5A8-4C48-BF77-728F22399E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8886E6-341F-4F09-A5A0-4E1D5566AEEF}"/>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1866348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D540E4-825D-49D8-94AB-8DCE35930A1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275D6F-8FEC-4132-BF78-429C2AFE1FD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94FF90B-22E9-4FEC-805C-EF740C96899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F2F1185-A59C-46FC-BA98-A1C3B11AE931}"/>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6" name="フッター プレースホルダー 5">
            <a:extLst>
              <a:ext uri="{FF2B5EF4-FFF2-40B4-BE49-F238E27FC236}">
                <a16:creationId xmlns:a16="http://schemas.microsoft.com/office/drawing/2014/main" id="{14B814DA-09FF-4467-873C-106291F4A6D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E9521CA-C0F7-47F6-9B64-2D6885F62055}"/>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270745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B021FE-1DCE-4DD3-8EE6-D3637435FAE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785C5B7-6872-4A5A-8930-FCBDEA5B69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EA17436-EB04-41D6-88CF-1CC1902B76D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278B383-F5E6-4189-A498-29163903E8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57851F-B96B-46F6-9D75-202D740E85E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90BD33C-1D4E-4547-AB22-F1541F5DAF79}"/>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8" name="フッター プレースホルダー 7">
            <a:extLst>
              <a:ext uri="{FF2B5EF4-FFF2-40B4-BE49-F238E27FC236}">
                <a16:creationId xmlns:a16="http://schemas.microsoft.com/office/drawing/2014/main" id="{A9E3E52B-5A94-408D-9067-E13AF37706F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CF71455-F5C7-4C38-8AF8-13A5741207E3}"/>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3586515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6CAD99-B892-4D89-A0DE-A820A880F7B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6B0EC6D-9BB2-4BF4-ABF1-D1B921E41241}"/>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4" name="フッター プレースホルダー 3">
            <a:extLst>
              <a:ext uri="{FF2B5EF4-FFF2-40B4-BE49-F238E27FC236}">
                <a16:creationId xmlns:a16="http://schemas.microsoft.com/office/drawing/2014/main" id="{902C0A10-6367-40D1-AA8D-F95051139B5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F93BEE2-E9C3-409D-AAD0-9A8CDA7CEAE0}"/>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1332053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4A19D02-F33A-4EF7-9558-867AA07C69A3}"/>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3" name="フッター プレースホルダー 2">
            <a:extLst>
              <a:ext uri="{FF2B5EF4-FFF2-40B4-BE49-F238E27FC236}">
                <a16:creationId xmlns:a16="http://schemas.microsoft.com/office/drawing/2014/main" id="{A1DB380B-D43C-4C98-B48C-CA995E7661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F0C20E1-1C84-446C-B4F0-63316BED3146}"/>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1968362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6A45CF-B672-481B-9FF9-B024F026F01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6F1AA82-0DAA-456F-8E95-240B9B92DF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3956084-3F2D-4122-99FA-C48776D56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387825-067B-40A1-8F36-9B53596D176C}"/>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6" name="フッター プレースホルダー 5">
            <a:extLst>
              <a:ext uri="{FF2B5EF4-FFF2-40B4-BE49-F238E27FC236}">
                <a16:creationId xmlns:a16="http://schemas.microsoft.com/office/drawing/2014/main" id="{AE23E93D-9187-4B81-AA00-F298BB4ACFD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10E1C1E-284D-4B83-8D8F-5592A3852A8A}"/>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4212622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0D68FA-AD9F-446C-806C-700ABB5D470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65BD2F0-D349-4179-9A49-F25B91968D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AEFCFFD-EBF2-42ED-946F-A00504F0F2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F779938-681F-4D53-B7C9-BCA105D9EEAE}"/>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6" name="フッター プレースホルダー 5">
            <a:extLst>
              <a:ext uri="{FF2B5EF4-FFF2-40B4-BE49-F238E27FC236}">
                <a16:creationId xmlns:a16="http://schemas.microsoft.com/office/drawing/2014/main" id="{355996CA-B085-4871-93BA-059EC743615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A5E64F4-64FF-4416-A988-E97FA9D01B5D}"/>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6668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97F334-3D94-4C6C-8C67-62562372ADC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61C9883-F985-4C0B-92B2-4D7C27C17D5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DE8D6A6-0FCC-4C72-A04A-9C190E381322}"/>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A2F5A24D-0FA4-489D-8839-DD6CAA37F0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420E05-C05D-4B2E-8A24-7D576A1EEE78}"/>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3687440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7002EA6-F4C4-4242-ACA9-339AEAD9BC8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031C485-BBA6-4E24-8F2E-FF43B6D9321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54F28E4-90F0-421B-A4F3-113C27D144EE}"/>
              </a:ext>
            </a:extLst>
          </p:cNvPr>
          <p:cNvSpPr>
            <a:spLocks noGrp="1"/>
          </p:cNvSpPr>
          <p:nvPr>
            <p:ph type="dt" sz="half" idx="10"/>
          </p:nvPr>
        </p:nvSpPr>
        <p:spPr/>
        <p:txBody>
          <a:bodyPr/>
          <a:lstStyle/>
          <a:p>
            <a:fld id="{E2ECBCDB-2DEA-4E51-A591-192F9438C7F4}"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36E7B7BF-54CD-4ABF-8A0E-218C4C2D0F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0D8C0DD-7A76-4EA7-ABB9-015C148DECDD}"/>
              </a:ext>
            </a:extLst>
          </p:cNvPr>
          <p:cNvSpPr>
            <a:spLocks noGrp="1"/>
          </p:cNvSpPr>
          <p:nvPr>
            <p:ph type="sldNum" sz="quarter" idx="12"/>
          </p:nvPr>
        </p:nvSpPr>
        <p:spPr/>
        <p:txBody>
          <a:body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173594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E2828C-58CF-4BD0-8D35-0AD81D0AAF4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DF00A9C-47DA-41C2-B5FF-046A6F0F5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00BC4E7-5990-48E6-B0D9-CFB4ED5CFCBE}"/>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440064A0-11D0-440E-8BEE-A75D4390ECA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D7BEE3-115A-4482-98B0-FB80AEB27744}"/>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2895372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468D4B-7F89-46C4-9342-1A5E4593435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DDBF43D-3A5A-4043-9A39-528B15BA911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E26233-AC26-484F-A740-1C43836C5D38}"/>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631FF530-0160-4407-89BB-32706CA4D9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DF5297F-892C-4E4B-AC8C-CE42ED6A095A}"/>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3494021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E59B50-005A-42FE-BF0D-A47491971BF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8AC31F0-CC41-4612-8DDA-6A6AB10B62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91D6FA6-B493-4082-B010-50F406FC79CE}"/>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E44EE11D-C125-4DC0-A35C-6B265AEA52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4AEDC90-2B01-48B8-9388-09B5E3F8BD8B}"/>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4017878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A73138-89A1-4B10-ACAC-D4714130F9C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D64C08E-42E8-4291-A009-EAA80CFB6F3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DFA0AAE-BC65-47D5-A34E-1A46E3E5E55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88BEEDF-C070-4586-8FB6-E7316A4A0F3B}"/>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6" name="フッター プレースホルダー 5">
            <a:extLst>
              <a:ext uri="{FF2B5EF4-FFF2-40B4-BE49-F238E27FC236}">
                <a16:creationId xmlns:a16="http://schemas.microsoft.com/office/drawing/2014/main" id="{2401B0BD-9174-481C-92A4-799C91C1610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B0706A-0803-43B8-AEFC-D144E8989802}"/>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2661686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A2461C-B8E1-46ED-9F32-0431BB45286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0C0CFF-10BA-432F-A427-96E3FA7B8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A98FA09-D822-4613-99D1-301A360F024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D73912C-FE5A-4F97-AF02-5255E86097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322D9F8-B3E8-4F15-9ACC-F2E77E5C931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BEA192F-D4AE-44B8-9184-2C10CDC176E2}"/>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8" name="フッター プレースホルダー 7">
            <a:extLst>
              <a:ext uri="{FF2B5EF4-FFF2-40B4-BE49-F238E27FC236}">
                <a16:creationId xmlns:a16="http://schemas.microsoft.com/office/drawing/2014/main" id="{553BAA76-C056-4068-8AC5-51AEDB5F073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A596F4F-DA49-4930-86E8-F4628994CFE9}"/>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579842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FEAE4F-B789-48F2-87CC-E2A10BAD836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5A892DB-62C8-4FAA-BC5B-C9E15136A51A}"/>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4" name="フッター プレースホルダー 3">
            <a:extLst>
              <a:ext uri="{FF2B5EF4-FFF2-40B4-BE49-F238E27FC236}">
                <a16:creationId xmlns:a16="http://schemas.microsoft.com/office/drawing/2014/main" id="{B82DA6E1-5755-41AE-96EC-FA85A30A5E5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15F1F4E-8F04-4BEE-8E21-CD3D0BD2091E}"/>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2963390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75CC451-9935-4434-87B8-6B6C2A24D3AB}"/>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3" name="フッター プレースホルダー 2">
            <a:extLst>
              <a:ext uri="{FF2B5EF4-FFF2-40B4-BE49-F238E27FC236}">
                <a16:creationId xmlns:a16="http://schemas.microsoft.com/office/drawing/2014/main" id="{FC510E7D-B061-4800-AD4D-1E4EB3A4566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B019D5A-D94C-4AF4-8D49-2D4B8BE92672}"/>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4118950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207065-8C8C-4E00-82A3-4A8460C8104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DFA99D-8963-4B71-BC2E-A9F9BA1F0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A551135-CEA4-4B43-8893-E4191D406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82A7F84-EFFB-431F-9CDA-48A613F4FF39}"/>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6" name="フッター プレースホルダー 5">
            <a:extLst>
              <a:ext uri="{FF2B5EF4-FFF2-40B4-BE49-F238E27FC236}">
                <a16:creationId xmlns:a16="http://schemas.microsoft.com/office/drawing/2014/main" id="{FB98E7F5-2B64-4B6F-9FA0-B739BE8F154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FE2194-932C-4639-B170-E247D076BB4B}"/>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3383580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77B4AB-78DC-453F-AC50-75B632E6AC5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50E43E0-19D7-4448-97D3-E1C6E4268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2E73B2F-CE71-40DB-A3DF-3BCCC61F90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0F681A4-84D3-423E-A175-5480BC8BB728}"/>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6" name="フッター プレースホルダー 5">
            <a:extLst>
              <a:ext uri="{FF2B5EF4-FFF2-40B4-BE49-F238E27FC236}">
                <a16:creationId xmlns:a16="http://schemas.microsoft.com/office/drawing/2014/main" id="{C1789422-D780-4C18-BEA0-627B2682496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1FF6CD6-4389-4B32-8F0E-8742476CE45E}"/>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32061841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CFE025-8AA3-43B6-97A3-4C9081202CB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0EB38C0-03EC-41C0-B8F0-FCCE8E9790C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D578C5F-5391-4562-A924-04936A96210E}"/>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92388473-76BA-4F5E-82A1-F3D4BF3E2A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4AD249-0BB8-4D87-95CF-F2CAD962DEEA}"/>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16164120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DC23C22-A460-46E9-BAE9-47F391ED69D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766C065-EBFA-4E0F-A64A-27EB63DA094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A393582-504A-4B90-9193-A07CAD7BAE21}"/>
              </a:ext>
            </a:extLst>
          </p:cNvPr>
          <p:cNvSpPr>
            <a:spLocks noGrp="1"/>
          </p:cNvSpPr>
          <p:nvPr>
            <p:ph type="dt" sz="half" idx="10"/>
          </p:nvPr>
        </p:nvSpPr>
        <p:spPr/>
        <p:txBody>
          <a:bodyPr/>
          <a:lstStyle/>
          <a:p>
            <a:fld id="{BD9462C6-E197-4939-942B-76151C26B4B3}"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CC1A0ECC-A4E3-41F3-8316-59E783DCCF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AE9098E-2F5E-4986-B5D3-6FA5F84422CE}"/>
              </a:ext>
            </a:extLst>
          </p:cNvPr>
          <p:cNvSpPr>
            <a:spLocks noGrp="1"/>
          </p:cNvSpPr>
          <p:nvPr>
            <p:ph type="sldNum" sz="quarter" idx="12"/>
          </p:nvPr>
        </p:nvSpPr>
        <p:spPr/>
        <p:txBody>
          <a:body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3207662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C2E5913-AA7C-4E58-B14B-7948D0985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967E99-71A6-4889-8E7A-C386486855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503B0C2-8B73-447E-9252-730BAFF54D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ECBCDB-2DEA-4E51-A591-192F9438C7F4}"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E39068EC-617A-4442-BAAC-081075FF58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C4DC154-D894-4B3D-93CC-ACB028FE8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6B8CBE-4802-4E33-BF9E-0733D54B3189}" type="slidenum">
              <a:rPr kumimoji="1" lang="ja-JP" altLang="en-US" smtClean="0"/>
              <a:t>‹#›</a:t>
            </a:fld>
            <a:endParaRPr kumimoji="1" lang="ja-JP" altLang="en-US"/>
          </a:p>
        </p:txBody>
      </p:sp>
    </p:spTree>
    <p:extLst>
      <p:ext uri="{BB962C8B-B14F-4D97-AF65-F5344CB8AC3E}">
        <p14:creationId xmlns:p14="http://schemas.microsoft.com/office/powerpoint/2010/main" val="16752934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D7A0442-8921-478F-B3EE-B7B9E5C848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C4D8CF-A466-4D58-988B-A7AA00286F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9FBCC5C-17AA-4F12-8955-0D2C0FFF5D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462C6-E197-4939-942B-76151C26B4B3}" type="datetimeFigureOut">
              <a:rPr kumimoji="1" lang="ja-JP" altLang="en-US" smtClean="0"/>
              <a:t>2020/8/2</a:t>
            </a:fld>
            <a:endParaRPr kumimoji="1" lang="ja-JP" altLang="en-US"/>
          </a:p>
        </p:txBody>
      </p:sp>
      <p:sp>
        <p:nvSpPr>
          <p:cNvPr id="5" name="フッター プレースホルダー 4">
            <a:extLst>
              <a:ext uri="{FF2B5EF4-FFF2-40B4-BE49-F238E27FC236}">
                <a16:creationId xmlns:a16="http://schemas.microsoft.com/office/drawing/2014/main" id="{6B6F317E-4FA4-404B-B988-563DA1DE24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E249F1E-9A2C-4EEF-84D8-54C6BEBD08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335434-3564-4AFB-BF2B-FBAB3927E793}" type="slidenum">
              <a:rPr kumimoji="1" lang="ja-JP" altLang="en-US" smtClean="0"/>
              <a:t>‹#›</a:t>
            </a:fld>
            <a:endParaRPr kumimoji="1" lang="ja-JP" altLang="en-US"/>
          </a:p>
        </p:txBody>
      </p:sp>
    </p:spTree>
    <p:extLst>
      <p:ext uri="{BB962C8B-B14F-4D97-AF65-F5344CB8AC3E}">
        <p14:creationId xmlns:p14="http://schemas.microsoft.com/office/powerpoint/2010/main" val="2263856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465558-03B3-4485-8270-C1893296F5CF}"/>
              </a:ext>
            </a:extLst>
          </p:cNvPr>
          <p:cNvSpPr>
            <a:spLocks noGrp="1"/>
          </p:cNvSpPr>
          <p:nvPr>
            <p:ph type="ctrTitle"/>
          </p:nvPr>
        </p:nvSpPr>
        <p:spPr/>
        <p:txBody>
          <a:bodyPr/>
          <a:lstStyle/>
          <a:p>
            <a:r>
              <a:rPr lang="ja-JP" altLang="en-US" dirty="0"/>
              <a:t>標的型攻撃を検出するための手法の考案</a:t>
            </a:r>
            <a:endParaRPr kumimoji="1" lang="ja-JP" altLang="en-US" dirty="0"/>
          </a:p>
        </p:txBody>
      </p:sp>
      <p:sp>
        <p:nvSpPr>
          <p:cNvPr id="3" name="字幕 2">
            <a:extLst>
              <a:ext uri="{FF2B5EF4-FFF2-40B4-BE49-F238E27FC236}">
                <a16:creationId xmlns:a16="http://schemas.microsoft.com/office/drawing/2014/main" id="{C8A26BE6-EDD9-441B-869E-B7B942668641}"/>
              </a:ext>
            </a:extLst>
          </p:cNvPr>
          <p:cNvSpPr>
            <a:spLocks noGrp="1"/>
          </p:cNvSpPr>
          <p:nvPr>
            <p:ph type="subTitle" idx="1"/>
          </p:nvPr>
        </p:nvSpPr>
        <p:spPr/>
        <p:txBody>
          <a:bodyPr/>
          <a:lstStyle/>
          <a:p>
            <a:pPr algn="r"/>
            <a:r>
              <a:rPr kumimoji="1" lang="ja-JP" altLang="en-US" dirty="0"/>
              <a:t>塚田研究室　</a:t>
            </a:r>
            <a:r>
              <a:rPr kumimoji="1" lang="en-US" altLang="ja-JP" dirty="0"/>
              <a:t>217K6066</a:t>
            </a:r>
            <a:r>
              <a:rPr kumimoji="1" lang="ja-JP" altLang="en-US" dirty="0"/>
              <a:t>　勅使河原胡桃</a:t>
            </a:r>
          </a:p>
          <a:p>
            <a:endParaRPr kumimoji="1" lang="ja-JP" altLang="en-US" dirty="0"/>
          </a:p>
        </p:txBody>
      </p:sp>
    </p:spTree>
    <p:extLst>
      <p:ext uri="{BB962C8B-B14F-4D97-AF65-F5344CB8AC3E}">
        <p14:creationId xmlns:p14="http://schemas.microsoft.com/office/powerpoint/2010/main" val="1888398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E6A9D2-8FE4-42F9-A62E-526CDA9207B9}"/>
              </a:ext>
            </a:extLst>
          </p:cNvPr>
          <p:cNvSpPr>
            <a:spLocks noGrp="1"/>
          </p:cNvSpPr>
          <p:nvPr>
            <p:ph type="title"/>
          </p:nvPr>
        </p:nvSpPr>
        <p:spPr/>
        <p:txBody>
          <a:bodyPr/>
          <a:lstStyle/>
          <a:p>
            <a:r>
              <a:rPr kumimoji="1" lang="ja-JP" altLang="en-US" dirty="0"/>
              <a:t>研究背景</a:t>
            </a:r>
          </a:p>
        </p:txBody>
      </p:sp>
      <p:sp>
        <p:nvSpPr>
          <p:cNvPr id="3" name="コンテンツ プレースホルダー 2">
            <a:extLst>
              <a:ext uri="{FF2B5EF4-FFF2-40B4-BE49-F238E27FC236}">
                <a16:creationId xmlns:a16="http://schemas.microsoft.com/office/drawing/2014/main" id="{E207311E-D09A-4C83-87BA-1A941216B0BA}"/>
              </a:ext>
            </a:extLst>
          </p:cNvPr>
          <p:cNvSpPr>
            <a:spLocks noGrp="1"/>
          </p:cNvSpPr>
          <p:nvPr>
            <p:ph idx="1"/>
          </p:nvPr>
        </p:nvSpPr>
        <p:spPr/>
        <p:txBody>
          <a:bodyPr/>
          <a:lstStyle/>
          <a:p>
            <a:r>
              <a:rPr lang="ja-JP" altLang="en-US" dirty="0"/>
              <a:t>研究背景として、</a:t>
            </a:r>
            <a:r>
              <a:rPr lang="en-US" altLang="ja-JP" dirty="0"/>
              <a:t>IT</a:t>
            </a:r>
            <a:r>
              <a:rPr lang="ja-JP" altLang="en-US" dirty="0"/>
              <a:t>化が進み、不正アクセスの被害が多くニュースに取り上げられている。</a:t>
            </a:r>
            <a:endParaRPr lang="en-US" altLang="ja-JP" dirty="0"/>
          </a:p>
          <a:p>
            <a:endParaRPr lang="en-US" altLang="ja-JP" dirty="0"/>
          </a:p>
          <a:p>
            <a:r>
              <a:rPr lang="ja-JP" altLang="en-US" dirty="0"/>
              <a:t>その中で、不正アクセスを防ぎ被害を減少させることが重要視されている。</a:t>
            </a:r>
          </a:p>
          <a:p>
            <a:endParaRPr kumimoji="1" lang="ja-JP" altLang="en-US" dirty="0"/>
          </a:p>
        </p:txBody>
      </p:sp>
    </p:spTree>
    <p:extLst>
      <p:ext uri="{BB962C8B-B14F-4D97-AF65-F5344CB8AC3E}">
        <p14:creationId xmlns:p14="http://schemas.microsoft.com/office/powerpoint/2010/main" val="1986568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4EEA05-5733-4AA1-8EFF-FB96600B1DD2}"/>
              </a:ext>
            </a:extLst>
          </p:cNvPr>
          <p:cNvSpPr>
            <a:spLocks noGrp="1"/>
          </p:cNvSpPr>
          <p:nvPr>
            <p:ph type="title"/>
          </p:nvPr>
        </p:nvSpPr>
        <p:spPr/>
        <p:txBody>
          <a:bodyPr/>
          <a:lstStyle/>
          <a:p>
            <a:r>
              <a:rPr kumimoji="1" lang="ja-JP" altLang="en-US" dirty="0"/>
              <a:t>研究目的</a:t>
            </a:r>
          </a:p>
        </p:txBody>
      </p:sp>
      <p:sp>
        <p:nvSpPr>
          <p:cNvPr id="3" name="コンテンツ プレースホルダー 2">
            <a:extLst>
              <a:ext uri="{FF2B5EF4-FFF2-40B4-BE49-F238E27FC236}">
                <a16:creationId xmlns:a16="http://schemas.microsoft.com/office/drawing/2014/main" id="{34E9EE2D-784B-4F14-8A19-06308AA713D5}"/>
              </a:ext>
            </a:extLst>
          </p:cNvPr>
          <p:cNvSpPr>
            <a:spLocks noGrp="1"/>
          </p:cNvSpPr>
          <p:nvPr>
            <p:ph idx="1"/>
          </p:nvPr>
        </p:nvSpPr>
        <p:spPr/>
        <p:txBody>
          <a:bodyPr/>
          <a:lstStyle/>
          <a:p>
            <a:r>
              <a:rPr lang="ja-JP" altLang="en-US" dirty="0"/>
              <a:t>不正アクセスには一般的にはファイアウォールなどがあり私はこの不正アクセスを防止する研究をする。</a:t>
            </a:r>
            <a:endParaRPr lang="en-US" altLang="ja-JP" dirty="0"/>
          </a:p>
          <a:p>
            <a:endParaRPr lang="ja-JP" altLang="en-US" dirty="0"/>
          </a:p>
          <a:p>
            <a:r>
              <a:rPr lang="ja-JP" altLang="en-US" dirty="0"/>
              <a:t>より多くの被害の拡大を防ぐとともに不正アクセスを遮断することができる。</a:t>
            </a:r>
            <a:endParaRPr lang="en-US" altLang="ja-JP" dirty="0"/>
          </a:p>
          <a:p>
            <a:endParaRPr kumimoji="1" lang="ja-JP" altLang="en-US" dirty="0"/>
          </a:p>
        </p:txBody>
      </p:sp>
    </p:spTree>
    <p:extLst>
      <p:ext uri="{BB962C8B-B14F-4D97-AF65-F5344CB8AC3E}">
        <p14:creationId xmlns:p14="http://schemas.microsoft.com/office/powerpoint/2010/main" val="1945295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AA1803-5CC0-48EB-8A2E-4D12E277A2EF}"/>
              </a:ext>
            </a:extLst>
          </p:cNvPr>
          <p:cNvSpPr>
            <a:spLocks noGrp="1"/>
          </p:cNvSpPr>
          <p:nvPr>
            <p:ph type="title"/>
          </p:nvPr>
        </p:nvSpPr>
        <p:spPr/>
        <p:txBody>
          <a:bodyPr/>
          <a:lstStyle/>
          <a:p>
            <a:r>
              <a:rPr kumimoji="1" lang="ja-JP" altLang="en-US" dirty="0"/>
              <a:t>ファイアウォール</a:t>
            </a:r>
          </a:p>
        </p:txBody>
      </p:sp>
      <p:sp>
        <p:nvSpPr>
          <p:cNvPr id="3" name="コンテンツ プレースホルダー 2">
            <a:extLst>
              <a:ext uri="{FF2B5EF4-FFF2-40B4-BE49-F238E27FC236}">
                <a16:creationId xmlns:a16="http://schemas.microsoft.com/office/drawing/2014/main" id="{6826E3AE-5AEE-4DA7-8DD1-D00514F67116}"/>
              </a:ext>
            </a:extLst>
          </p:cNvPr>
          <p:cNvSpPr>
            <a:spLocks noGrp="1"/>
          </p:cNvSpPr>
          <p:nvPr>
            <p:ph idx="1"/>
          </p:nvPr>
        </p:nvSpPr>
        <p:spPr/>
        <p:txBody>
          <a:bodyPr>
            <a:normAutofit/>
          </a:bodyPr>
          <a:lstStyle/>
          <a:p>
            <a:pPr marL="0" indent="0">
              <a:buNone/>
            </a:pPr>
            <a:r>
              <a:rPr lang="ja-JP" altLang="en-US" dirty="0"/>
              <a:t>意味</a:t>
            </a:r>
            <a:endParaRPr lang="en-US" altLang="ja-JP" dirty="0"/>
          </a:p>
          <a:p>
            <a:pPr marL="0" indent="0">
              <a:buNone/>
            </a:pPr>
            <a:r>
              <a:rPr lang="ja-JP" altLang="en-US" dirty="0"/>
              <a:t>不正を防ぎ、機密性を高めるセキュリティ技術</a:t>
            </a:r>
            <a:endParaRPr lang="en-US" altLang="ja-JP" dirty="0"/>
          </a:p>
          <a:p>
            <a:pPr marL="0" indent="0">
              <a:buNone/>
            </a:pPr>
            <a:r>
              <a:rPr lang="ja-JP" altLang="en-US" dirty="0"/>
              <a:t>信頼できない外部ネットワークの攻撃から内部ネットワークを保護するシステム</a:t>
            </a:r>
            <a:endParaRPr kumimoji="1" lang="en-US" altLang="ja-JP" dirty="0"/>
          </a:p>
          <a:p>
            <a:pPr marL="0" indent="0">
              <a:buNone/>
            </a:pPr>
            <a:r>
              <a:rPr kumimoji="1" lang="ja-JP" altLang="en-US" dirty="0"/>
              <a:t>基本機能</a:t>
            </a:r>
            <a:endParaRPr kumimoji="1" lang="en-US" altLang="ja-JP" dirty="0"/>
          </a:p>
          <a:p>
            <a:r>
              <a:rPr lang="ja-JP" altLang="en-US" dirty="0"/>
              <a:t>パケットフィルタリング型（ネットワーク層）</a:t>
            </a:r>
            <a:endParaRPr lang="en-US" altLang="ja-JP" dirty="0"/>
          </a:p>
        </p:txBody>
      </p:sp>
      <p:pic>
        <p:nvPicPr>
          <p:cNvPr id="5" name="図 4">
            <a:extLst>
              <a:ext uri="{FF2B5EF4-FFF2-40B4-BE49-F238E27FC236}">
                <a16:creationId xmlns:a16="http://schemas.microsoft.com/office/drawing/2014/main" id="{3A20C05A-F428-40DA-BEEA-4221A1F18346}"/>
              </a:ext>
            </a:extLst>
          </p:cNvPr>
          <p:cNvPicPr>
            <a:picLocks noChangeAspect="1"/>
          </p:cNvPicPr>
          <p:nvPr/>
        </p:nvPicPr>
        <p:blipFill>
          <a:blip r:embed="rId3"/>
          <a:stretch>
            <a:fillRect/>
          </a:stretch>
        </p:blipFill>
        <p:spPr>
          <a:xfrm>
            <a:off x="3083116" y="4872829"/>
            <a:ext cx="5600572" cy="1706391"/>
          </a:xfrm>
          <a:prstGeom prst="rect">
            <a:avLst/>
          </a:prstGeom>
        </p:spPr>
      </p:pic>
    </p:spTree>
    <p:extLst>
      <p:ext uri="{BB962C8B-B14F-4D97-AF65-F5344CB8AC3E}">
        <p14:creationId xmlns:p14="http://schemas.microsoft.com/office/powerpoint/2010/main" val="4196796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FD3D1F-1B6D-4C2B-A174-2D86B21D4430}"/>
              </a:ext>
            </a:extLst>
          </p:cNvPr>
          <p:cNvSpPr>
            <a:spLocks noGrp="1"/>
          </p:cNvSpPr>
          <p:nvPr>
            <p:ph type="title"/>
          </p:nvPr>
        </p:nvSpPr>
        <p:spPr>
          <a:xfrm>
            <a:off x="631751" y="439553"/>
            <a:ext cx="10928498" cy="1325563"/>
          </a:xfrm>
        </p:spPr>
        <p:txBody>
          <a:bodyPr/>
          <a:lstStyle/>
          <a:p>
            <a:r>
              <a:rPr kumimoji="1" lang="ja-JP" altLang="en-US" dirty="0"/>
              <a:t>ファイアウォールで防げない不正アクセス</a:t>
            </a:r>
          </a:p>
        </p:txBody>
      </p:sp>
      <p:graphicFrame>
        <p:nvGraphicFramePr>
          <p:cNvPr id="4" name="コンテンツ プレースホルダー 3">
            <a:extLst>
              <a:ext uri="{FF2B5EF4-FFF2-40B4-BE49-F238E27FC236}">
                <a16:creationId xmlns:a16="http://schemas.microsoft.com/office/drawing/2014/main" id="{44F65996-937F-432F-BD7D-5B205176C0B5}"/>
              </a:ext>
            </a:extLst>
          </p:cNvPr>
          <p:cNvGraphicFramePr>
            <a:graphicFrameLocks noGrp="1"/>
          </p:cNvGraphicFramePr>
          <p:nvPr>
            <p:ph idx="1"/>
            <p:extLst>
              <p:ext uri="{D42A27DB-BD31-4B8C-83A1-F6EECF244321}">
                <p14:modId xmlns:p14="http://schemas.microsoft.com/office/powerpoint/2010/main" val="611928442"/>
              </p:ext>
            </p:extLst>
          </p:nvPr>
        </p:nvGraphicFramePr>
        <p:xfrm>
          <a:off x="1210340" y="1947320"/>
          <a:ext cx="9198934" cy="3251200"/>
        </p:xfrm>
        <a:graphic>
          <a:graphicData uri="http://schemas.openxmlformats.org/drawingml/2006/table">
            <a:tbl>
              <a:tblPr/>
              <a:tblGrid>
                <a:gridCol w="9198934">
                  <a:extLst>
                    <a:ext uri="{9D8B030D-6E8A-4147-A177-3AD203B41FA5}">
                      <a16:colId xmlns:a16="http://schemas.microsoft.com/office/drawing/2014/main" val="1388573947"/>
                    </a:ext>
                  </a:extLst>
                </a:gridCol>
              </a:tblGrid>
              <a:tr h="0">
                <a:tc>
                  <a:txBody>
                    <a:bodyPr/>
                    <a:lstStyle/>
                    <a:p>
                      <a:r>
                        <a:rPr lang="ja-JP" altLang="en-US" sz="2800" dirty="0"/>
                        <a:t>デメリット</a:t>
                      </a:r>
                      <a:endParaRPr lang="en-US" altLang="ja-JP" sz="2800" dirty="0"/>
                    </a:p>
                    <a:p>
                      <a:pPr marL="342900" indent="-342900">
                        <a:buFont typeface="Arial" panose="020B0604020202020204" pitchFamily="34" charset="0"/>
                        <a:buChar char="•"/>
                      </a:pPr>
                      <a:r>
                        <a:rPr lang="ja-JP" altLang="en-US" sz="2800" dirty="0"/>
                        <a:t>通過する情報の中身が見えないので、きめ細かい制御は出来ない</a:t>
                      </a:r>
                      <a:endParaRPr lang="en-US" altLang="ja-JP" sz="2800" dirty="0"/>
                    </a:p>
                    <a:p>
                      <a:pPr marL="342900" indent="-342900">
                        <a:buFont typeface="Arial" panose="020B0604020202020204" pitchFamily="34" charset="0"/>
                        <a:buChar char="•"/>
                      </a:pPr>
                      <a:r>
                        <a:rPr kumimoji="1" lang="ja-JP" altLang="en-US" sz="2800" b="0" i="0" u="none" strike="noStrike" kern="1200" dirty="0">
                          <a:solidFill>
                            <a:schemeClr val="tx1"/>
                          </a:solidFill>
                          <a:effectLst/>
                          <a:latin typeface="+mn-lt"/>
                          <a:ea typeface="+mn-ea"/>
                          <a:cs typeface="+mn-cs"/>
                        </a:rPr>
                        <a:t>ヘッダー情報さえアクセス許可の定義をクリアすれば、中に不正データが入っていようが社内ネットワークへ侵入することが可能</a:t>
                      </a:r>
                      <a:endParaRPr lang="en-US" altLang="ja-JP" sz="2800" dirty="0">
                        <a:solidFill>
                          <a:srgbClr val="000000"/>
                        </a:solidFill>
                        <a:effectLst/>
                      </a:endParaRPr>
                    </a:p>
                    <a:p>
                      <a:endParaRPr lang="en-US" altLang="ja-JP" sz="2400"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txBody>
                  <a:tcPr marL="25400" marR="25400" marT="25400" marB="25400" anchor="ctr">
                    <a:lnL>
                      <a:noFill/>
                    </a:lnL>
                    <a:lnR>
                      <a:noFill/>
                    </a:lnR>
                    <a:lnT>
                      <a:noFill/>
                    </a:lnT>
                    <a:lnB>
                      <a:noFill/>
                    </a:lnB>
                    <a:solidFill>
                      <a:srgbClr val="FFFFFF"/>
                    </a:solidFill>
                  </a:tcPr>
                </a:tc>
                <a:extLst>
                  <a:ext uri="{0D108BD9-81ED-4DB2-BD59-A6C34878D82A}">
                    <a16:rowId xmlns:a16="http://schemas.microsoft.com/office/drawing/2014/main" val="1281982217"/>
                  </a:ext>
                </a:extLst>
              </a:tr>
            </a:tbl>
          </a:graphicData>
        </a:graphic>
      </p:graphicFrame>
    </p:spTree>
    <p:extLst>
      <p:ext uri="{BB962C8B-B14F-4D97-AF65-F5344CB8AC3E}">
        <p14:creationId xmlns:p14="http://schemas.microsoft.com/office/powerpoint/2010/main" val="2748430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C76FA8-C2D4-4557-AA31-CA258D5F4492}"/>
              </a:ext>
            </a:extLst>
          </p:cNvPr>
          <p:cNvSpPr>
            <a:spLocks noGrp="1"/>
          </p:cNvSpPr>
          <p:nvPr>
            <p:ph type="title"/>
          </p:nvPr>
        </p:nvSpPr>
        <p:spPr/>
        <p:txBody>
          <a:bodyPr>
            <a:normAutofit fontScale="90000"/>
          </a:bodyPr>
          <a:lstStyle/>
          <a:p>
            <a:r>
              <a:rPr kumimoji="1" lang="en-US" altLang="ja-JP" dirty="0"/>
              <a:t>WAF</a:t>
            </a:r>
            <a:br>
              <a:rPr kumimoji="1" lang="en-US" altLang="ja-JP" dirty="0"/>
            </a:br>
            <a:r>
              <a:rPr kumimoji="1" lang="ja-JP" altLang="en-US" dirty="0"/>
              <a:t>（</a:t>
            </a:r>
            <a:r>
              <a:rPr kumimoji="1" lang="en-US" altLang="ja-JP" dirty="0"/>
              <a:t>Web</a:t>
            </a:r>
            <a:r>
              <a:rPr lang="ja-JP" altLang="en-US" dirty="0"/>
              <a:t>アプリケーションファイアウォール）</a:t>
            </a:r>
            <a:endParaRPr kumimoji="1" lang="ja-JP" altLang="en-US" dirty="0"/>
          </a:p>
        </p:txBody>
      </p:sp>
      <p:sp>
        <p:nvSpPr>
          <p:cNvPr id="3" name="コンテンツ プレースホルダー 2">
            <a:extLst>
              <a:ext uri="{FF2B5EF4-FFF2-40B4-BE49-F238E27FC236}">
                <a16:creationId xmlns:a16="http://schemas.microsoft.com/office/drawing/2014/main" id="{15285A9F-B34D-4B63-AB01-956EB8F56B52}"/>
              </a:ext>
            </a:extLst>
          </p:cNvPr>
          <p:cNvSpPr>
            <a:spLocks noGrp="1"/>
          </p:cNvSpPr>
          <p:nvPr>
            <p:ph idx="1"/>
          </p:nvPr>
        </p:nvSpPr>
        <p:spPr>
          <a:xfrm>
            <a:off x="976423" y="2017012"/>
            <a:ext cx="10911214" cy="4351338"/>
          </a:xfrm>
        </p:spPr>
        <p:txBody>
          <a:bodyPr>
            <a:normAutofit fontScale="92500"/>
          </a:bodyPr>
          <a:lstStyle/>
          <a:p>
            <a:pPr marL="0" indent="0">
              <a:buNone/>
            </a:pPr>
            <a:r>
              <a:rPr lang="ja-JP" altLang="en-US" dirty="0"/>
              <a:t>特徴</a:t>
            </a:r>
            <a:endParaRPr lang="en-US" altLang="ja-JP" dirty="0"/>
          </a:p>
          <a:p>
            <a:r>
              <a:rPr lang="ja-JP" altLang="en-US" dirty="0"/>
              <a:t>従来のファイヤーウォールがネットワークレベルで管理</a:t>
            </a:r>
            <a:endParaRPr lang="en-US" altLang="ja-JP" dirty="0"/>
          </a:p>
          <a:p>
            <a:pPr marL="0" indent="0">
              <a:buNone/>
            </a:pPr>
            <a:r>
              <a:rPr lang="ja-JP" altLang="en-US" dirty="0"/>
              <a:t>　　　　　　　　　　　　　　↓</a:t>
            </a:r>
            <a:endParaRPr lang="en-US" altLang="ja-JP" dirty="0"/>
          </a:p>
          <a:p>
            <a:r>
              <a:rPr lang="en-US" altLang="ja-JP" dirty="0"/>
              <a:t>WAF</a:t>
            </a:r>
            <a:r>
              <a:rPr lang="ja-JP" altLang="en-US" dirty="0"/>
              <a:t>はパケット情報に加えアプリケーションのレベルで管理。</a:t>
            </a:r>
            <a:endParaRPr lang="en-US" altLang="ja-JP" dirty="0"/>
          </a:p>
          <a:p>
            <a:pPr marL="0" indent="0">
              <a:buNone/>
            </a:pPr>
            <a:endParaRPr lang="en-US" altLang="ja-JP" dirty="0"/>
          </a:p>
          <a:p>
            <a:r>
              <a:rPr lang="ja-JP" altLang="en-US" dirty="0"/>
              <a:t>プログラムに渡される入力内容などを直接に検査することによって、不正と見なされたアクセス要求を遮断するという仕組み</a:t>
            </a:r>
            <a:endParaRPr lang="en-US" altLang="ja-JP" dirty="0"/>
          </a:p>
          <a:p>
            <a:endParaRPr lang="en-US" altLang="ja-JP" dirty="0"/>
          </a:p>
          <a:p>
            <a:r>
              <a:rPr lang="en-US" altLang="ja-JP" dirty="0"/>
              <a:t>SQL</a:t>
            </a:r>
            <a:r>
              <a:rPr lang="ja-JP" altLang="en-US" dirty="0"/>
              <a:t>インジェクションやクロスサイトスクリプティングなどを防御</a:t>
            </a:r>
            <a:endParaRPr lang="en-US" altLang="ja-JP" dirty="0"/>
          </a:p>
          <a:p>
            <a:endParaRPr lang="ja-JP" altLang="en-US" dirty="0"/>
          </a:p>
          <a:p>
            <a:endParaRPr kumimoji="1" lang="ja-JP" altLang="en-US" dirty="0"/>
          </a:p>
        </p:txBody>
      </p:sp>
    </p:spTree>
    <p:extLst>
      <p:ext uri="{BB962C8B-B14F-4D97-AF65-F5344CB8AC3E}">
        <p14:creationId xmlns:p14="http://schemas.microsoft.com/office/powerpoint/2010/main" val="404216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358214-8F08-47C3-A44F-DA1E73696332}"/>
              </a:ext>
            </a:extLst>
          </p:cNvPr>
          <p:cNvSpPr>
            <a:spLocks noGrp="1"/>
          </p:cNvSpPr>
          <p:nvPr>
            <p:ph type="title"/>
          </p:nvPr>
        </p:nvSpPr>
        <p:spPr/>
        <p:txBody>
          <a:bodyPr/>
          <a:lstStyle/>
          <a:p>
            <a:r>
              <a:rPr lang="en-US" altLang="ja-JP" dirty="0"/>
              <a:t>WAF</a:t>
            </a:r>
            <a:r>
              <a:rPr lang="ja-JP" altLang="en-US" dirty="0"/>
              <a:t>　防ぐことのできない攻撃</a:t>
            </a:r>
            <a:endParaRPr kumimoji="1" lang="ja-JP" altLang="en-US" dirty="0"/>
          </a:p>
        </p:txBody>
      </p:sp>
      <p:sp>
        <p:nvSpPr>
          <p:cNvPr id="3" name="コンテンツ プレースホルダー 2">
            <a:extLst>
              <a:ext uri="{FF2B5EF4-FFF2-40B4-BE49-F238E27FC236}">
                <a16:creationId xmlns:a16="http://schemas.microsoft.com/office/drawing/2014/main" id="{3EC831D8-6A88-4145-BD3F-62AF8B0DCAC6}"/>
              </a:ext>
            </a:extLst>
          </p:cNvPr>
          <p:cNvSpPr>
            <a:spLocks noGrp="1"/>
          </p:cNvSpPr>
          <p:nvPr>
            <p:ph idx="1"/>
          </p:nvPr>
        </p:nvSpPr>
        <p:spPr/>
        <p:txBody>
          <a:bodyPr/>
          <a:lstStyle/>
          <a:p>
            <a:r>
              <a:rPr kumimoji="1" lang="ja-JP" altLang="en-US" dirty="0"/>
              <a:t>標的型攻撃　</a:t>
            </a:r>
            <a:r>
              <a:rPr lang="ja-JP" altLang="en-US" b="0" i="0" u="none" strike="noStrike" dirty="0">
                <a:solidFill>
                  <a:srgbClr val="202020"/>
                </a:solidFill>
                <a:effectLst/>
                <a:latin typeface="Open Sans"/>
              </a:rPr>
              <a:t>特定の個人や組織の情報を狙ったサイバー攻撃</a:t>
            </a:r>
            <a:endParaRPr kumimoji="1" lang="en-US" altLang="ja-JP" dirty="0"/>
          </a:p>
          <a:p>
            <a:r>
              <a:rPr lang="en-US" altLang="ja-JP" dirty="0"/>
              <a:t>OS</a:t>
            </a:r>
            <a:r>
              <a:rPr lang="ja-JP" altLang="en-US" dirty="0"/>
              <a:t>やミドルウェアに対する攻撃</a:t>
            </a:r>
            <a:endParaRPr lang="en-US" altLang="ja-JP" dirty="0"/>
          </a:p>
        </p:txBody>
      </p:sp>
      <p:pic>
        <p:nvPicPr>
          <p:cNvPr id="6" name="図 5">
            <a:extLst>
              <a:ext uri="{FF2B5EF4-FFF2-40B4-BE49-F238E27FC236}">
                <a16:creationId xmlns:a16="http://schemas.microsoft.com/office/drawing/2014/main" id="{43417396-7454-45B8-9AF6-8FCAD096BA65}"/>
              </a:ext>
            </a:extLst>
          </p:cNvPr>
          <p:cNvPicPr>
            <a:picLocks noChangeAspect="1"/>
          </p:cNvPicPr>
          <p:nvPr/>
        </p:nvPicPr>
        <p:blipFill rotWithShape="1">
          <a:blip r:embed="rId3"/>
          <a:srcRect l="30588" t="38294" r="36370" b="26667"/>
          <a:stretch/>
        </p:blipFill>
        <p:spPr>
          <a:xfrm>
            <a:off x="3232297" y="3169174"/>
            <a:ext cx="5156791" cy="3417696"/>
          </a:xfrm>
          <a:prstGeom prst="rect">
            <a:avLst/>
          </a:prstGeom>
        </p:spPr>
      </p:pic>
    </p:spTree>
    <p:extLst>
      <p:ext uri="{BB962C8B-B14F-4D97-AF65-F5344CB8AC3E}">
        <p14:creationId xmlns:p14="http://schemas.microsoft.com/office/powerpoint/2010/main" val="3414372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448765-A45C-4C5D-9E5B-6063572F8260}"/>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8D048760-3C6D-4F87-8782-A597BC7E51FD}"/>
              </a:ext>
            </a:extLst>
          </p:cNvPr>
          <p:cNvSpPr>
            <a:spLocks noGrp="1"/>
          </p:cNvSpPr>
          <p:nvPr>
            <p:ph idx="1"/>
          </p:nvPr>
        </p:nvSpPr>
        <p:spPr/>
        <p:txBody>
          <a:bodyPr/>
          <a:lstStyle/>
          <a:p>
            <a:endParaRPr lang="en-US" altLang="ja-JP" dirty="0"/>
          </a:p>
          <a:p>
            <a:r>
              <a:rPr kumimoji="1" lang="en-US" altLang="ja-JP" dirty="0"/>
              <a:t>WAF</a:t>
            </a:r>
            <a:r>
              <a:rPr kumimoji="1" lang="ja-JP" altLang="en-US" dirty="0"/>
              <a:t>でも防ぐことのできない不正アクセスが存在していることがわかった。</a:t>
            </a:r>
            <a:endParaRPr kumimoji="1" lang="en-US" altLang="ja-JP" dirty="0"/>
          </a:p>
          <a:p>
            <a:r>
              <a:rPr lang="en-US" altLang="ja-JP" dirty="0"/>
              <a:t>WAF</a:t>
            </a:r>
            <a:r>
              <a:rPr lang="ja-JP" altLang="en-US" dirty="0"/>
              <a:t>で防ぐことのできない攻撃を防ぐために次に挙げられる論文を紹介する。</a:t>
            </a:r>
            <a:endParaRPr kumimoji="1" lang="ja-JP" altLang="en-US" dirty="0"/>
          </a:p>
          <a:p>
            <a:endParaRPr kumimoji="1" lang="ja-JP" altLang="en-US" dirty="0"/>
          </a:p>
        </p:txBody>
      </p:sp>
    </p:spTree>
    <p:extLst>
      <p:ext uri="{BB962C8B-B14F-4D97-AF65-F5344CB8AC3E}">
        <p14:creationId xmlns:p14="http://schemas.microsoft.com/office/powerpoint/2010/main" val="4239696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EBE862-55A1-4906-A20F-A9FDA566907D}"/>
              </a:ext>
            </a:extLst>
          </p:cNvPr>
          <p:cNvSpPr>
            <a:spLocks noGrp="1"/>
          </p:cNvSpPr>
          <p:nvPr>
            <p:ph type="title"/>
          </p:nvPr>
        </p:nvSpPr>
        <p:spPr/>
        <p:txBody>
          <a:bodyPr/>
          <a:lstStyle/>
          <a:p>
            <a:r>
              <a:rPr kumimoji="1" lang="ja-JP" altLang="en-US" dirty="0"/>
              <a:t>関連研究</a:t>
            </a:r>
          </a:p>
        </p:txBody>
      </p:sp>
      <p:sp>
        <p:nvSpPr>
          <p:cNvPr id="3" name="コンテンツ プレースホルダー 2">
            <a:extLst>
              <a:ext uri="{FF2B5EF4-FFF2-40B4-BE49-F238E27FC236}">
                <a16:creationId xmlns:a16="http://schemas.microsoft.com/office/drawing/2014/main" id="{7969F404-BF95-4629-B990-31347884FB66}"/>
              </a:ext>
            </a:extLst>
          </p:cNvPr>
          <p:cNvSpPr>
            <a:spLocks noGrp="1"/>
          </p:cNvSpPr>
          <p:nvPr>
            <p:ph idx="1"/>
          </p:nvPr>
        </p:nvSpPr>
        <p:spPr/>
        <p:txBody>
          <a:bodyPr>
            <a:normAutofit lnSpcReduction="10000"/>
          </a:bodyPr>
          <a:lstStyle/>
          <a:p>
            <a:pPr marL="0" indent="0" algn="ctr">
              <a:buNone/>
            </a:pPr>
            <a:r>
              <a:rPr kumimoji="1" lang="en-US" altLang="ja-JP" dirty="0"/>
              <a:t>Web</a:t>
            </a:r>
            <a:r>
              <a:rPr kumimoji="1" lang="ja-JP" altLang="en-US" dirty="0"/>
              <a:t>アプリケーションのための攻撃検出と防御　</a:t>
            </a:r>
            <a:endParaRPr kumimoji="1" lang="en-US" altLang="ja-JP" dirty="0"/>
          </a:p>
          <a:p>
            <a:pPr marL="0" indent="0" algn="r">
              <a:buNone/>
            </a:pPr>
            <a:r>
              <a:rPr kumimoji="1" lang="ja-JP" altLang="en-US" dirty="0"/>
              <a:t>著者　野見山 賢人</a:t>
            </a:r>
            <a:r>
              <a:rPr lang="ja-JP" altLang="en-US" dirty="0"/>
              <a:t>　</a:t>
            </a:r>
            <a:r>
              <a:rPr kumimoji="1" lang="ja-JP" altLang="en-US" dirty="0"/>
              <a:t>小出　洋</a:t>
            </a:r>
            <a:r>
              <a:rPr kumimoji="1" lang="en-US" altLang="ja-JP" dirty="0"/>
              <a:t>Computer Security Symposium 2017 23 - 25 October 2017</a:t>
            </a:r>
          </a:p>
          <a:p>
            <a:pPr marL="0" indent="0">
              <a:buNone/>
            </a:pPr>
            <a:endParaRPr kumimoji="1" lang="en-US" altLang="ja-JP" sz="2000" dirty="0"/>
          </a:p>
          <a:p>
            <a:pPr marL="0" indent="0">
              <a:buNone/>
            </a:pPr>
            <a:endParaRPr lang="en-US" altLang="ja-JP" sz="2000" dirty="0">
              <a:effectLst/>
              <a:ea typeface="游明朝" panose="02020400000000000000" pitchFamily="18" charset="-128"/>
              <a:cs typeface="Times New Roman" panose="02020603050405020304" pitchFamily="18" charset="0"/>
            </a:endParaRPr>
          </a:p>
          <a:p>
            <a:pPr marL="0" indent="0">
              <a:buNone/>
            </a:pPr>
            <a:endParaRPr lang="en-US" altLang="ja-JP" sz="2000" dirty="0">
              <a:ea typeface="游明朝" panose="02020400000000000000" pitchFamily="18" charset="-128"/>
              <a:cs typeface="Times New Roman" panose="02020603050405020304" pitchFamily="18" charset="0"/>
            </a:endParaRPr>
          </a:p>
          <a:p>
            <a:pPr marL="0" indent="0">
              <a:buNone/>
            </a:pPr>
            <a:endParaRPr lang="en-US" altLang="ja-JP" sz="2000" dirty="0">
              <a:effectLst/>
              <a:ea typeface="游明朝" panose="02020400000000000000" pitchFamily="18" charset="-128"/>
              <a:cs typeface="Times New Roman" panose="02020603050405020304" pitchFamily="18" charset="0"/>
            </a:endParaRPr>
          </a:p>
          <a:p>
            <a:pPr marL="0" indent="0">
              <a:buNone/>
            </a:pPr>
            <a:endParaRPr lang="en-US" altLang="ja-JP" sz="2000" dirty="0">
              <a:ea typeface="游明朝" panose="02020400000000000000" pitchFamily="18" charset="-128"/>
              <a:cs typeface="Times New Roman" panose="02020603050405020304" pitchFamily="18" charset="0"/>
            </a:endParaRPr>
          </a:p>
          <a:p>
            <a:pPr marL="0" indent="0">
              <a:buNone/>
            </a:pPr>
            <a:endParaRPr lang="en-US" altLang="ja-JP" sz="2000" dirty="0">
              <a:effectLst/>
              <a:ea typeface="游明朝" panose="02020400000000000000" pitchFamily="18" charset="-128"/>
              <a:cs typeface="Times New Roman" panose="02020603050405020304" pitchFamily="18" charset="0"/>
            </a:endParaRPr>
          </a:p>
          <a:p>
            <a:pPr marL="0" indent="0">
              <a:buNone/>
            </a:pPr>
            <a:endParaRPr lang="en-US" altLang="ja-JP" sz="2000" dirty="0">
              <a:ea typeface="游明朝" panose="02020400000000000000" pitchFamily="18" charset="-128"/>
              <a:cs typeface="Times New Roman" panose="02020603050405020304" pitchFamily="18" charset="0"/>
            </a:endParaRPr>
          </a:p>
          <a:p>
            <a:pPr marL="0" indent="0">
              <a:buNone/>
            </a:pPr>
            <a:r>
              <a:rPr lang="ja-JP" altLang="en-US" sz="2000" dirty="0">
                <a:effectLst/>
                <a:ea typeface="游明朝" panose="02020400000000000000" pitchFamily="18" charset="-128"/>
                <a:cs typeface="Times New Roman" panose="02020603050405020304" pitchFamily="18" charset="0"/>
              </a:rPr>
              <a:t>ハニーポット</a:t>
            </a:r>
            <a:r>
              <a:rPr lang="en-US" altLang="ja-JP" sz="2000" dirty="0">
                <a:effectLst/>
                <a:ea typeface="游明朝" panose="02020400000000000000" pitchFamily="18" charset="-128"/>
                <a:cs typeface="Times New Roman" panose="02020603050405020304" pitchFamily="18" charset="0"/>
              </a:rPr>
              <a:t>…</a:t>
            </a:r>
            <a:r>
              <a:rPr lang="ja-JP" altLang="ja-JP" sz="2000" dirty="0">
                <a:effectLst/>
                <a:ea typeface="游明朝" panose="02020400000000000000" pitchFamily="18" charset="-128"/>
                <a:cs typeface="Times New Roman" panose="02020603050405020304" pitchFamily="18" charset="0"/>
              </a:rPr>
              <a:t>攻撃者の行動や攻撃手法といった情報を収集することが可能である</a:t>
            </a:r>
            <a:r>
              <a:rPr lang="ja-JP" altLang="en-US" sz="2000" dirty="0">
                <a:effectLst/>
                <a:ea typeface="游明朝" panose="02020400000000000000" pitchFamily="18" charset="-128"/>
                <a:cs typeface="Times New Roman" panose="02020603050405020304" pitchFamily="18" charset="0"/>
              </a:rPr>
              <a:t>。</a:t>
            </a:r>
            <a:endParaRPr lang="en-US" altLang="ja-JP" sz="2000" dirty="0">
              <a:effectLst/>
              <a:ea typeface="游明朝" panose="02020400000000000000" pitchFamily="18" charset="-128"/>
              <a:cs typeface="Times New Roman" panose="02020603050405020304" pitchFamily="18" charset="0"/>
            </a:endParaRPr>
          </a:p>
          <a:p>
            <a:pPr marL="0" indent="0">
              <a:buNone/>
            </a:pPr>
            <a:endParaRPr lang="en-US" altLang="ja-JP" sz="2000" dirty="0">
              <a:effectLst/>
              <a:ea typeface="游明朝" panose="02020400000000000000" pitchFamily="18" charset="-128"/>
              <a:cs typeface="Times New Roman" panose="02020603050405020304" pitchFamily="18" charset="0"/>
            </a:endParaRPr>
          </a:p>
          <a:p>
            <a:pPr marL="0" indent="0">
              <a:buNone/>
            </a:pPr>
            <a:endParaRPr kumimoji="1" lang="ja-JP" altLang="en-US" dirty="0"/>
          </a:p>
        </p:txBody>
      </p:sp>
      <p:pic>
        <p:nvPicPr>
          <p:cNvPr id="7" name="図 6">
            <a:extLst>
              <a:ext uri="{FF2B5EF4-FFF2-40B4-BE49-F238E27FC236}">
                <a16:creationId xmlns:a16="http://schemas.microsoft.com/office/drawing/2014/main" id="{8452F684-F746-40C0-97E0-490EA2E2B26D}"/>
              </a:ext>
            </a:extLst>
          </p:cNvPr>
          <p:cNvPicPr>
            <a:picLocks noChangeAspect="1"/>
          </p:cNvPicPr>
          <p:nvPr/>
        </p:nvPicPr>
        <p:blipFill rotWithShape="1">
          <a:blip r:embed="rId3"/>
          <a:srcRect l="50695" t="46050" r="29166" b="39568"/>
          <a:stretch/>
        </p:blipFill>
        <p:spPr>
          <a:xfrm>
            <a:off x="2854958" y="3005598"/>
            <a:ext cx="6024175" cy="2688951"/>
          </a:xfrm>
          <a:prstGeom prst="rect">
            <a:avLst/>
          </a:prstGeom>
        </p:spPr>
      </p:pic>
    </p:spTree>
    <p:extLst>
      <p:ext uri="{BB962C8B-B14F-4D97-AF65-F5344CB8AC3E}">
        <p14:creationId xmlns:p14="http://schemas.microsoft.com/office/powerpoint/2010/main" val="1574896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307356-8460-4A46-B007-05E26B1B7AFA}"/>
              </a:ext>
            </a:extLst>
          </p:cNvPr>
          <p:cNvSpPr>
            <a:spLocks noGrp="1"/>
          </p:cNvSpPr>
          <p:nvPr>
            <p:ph type="title"/>
          </p:nvPr>
        </p:nvSpPr>
        <p:spPr/>
        <p:txBody>
          <a:bodyPr/>
          <a:lstStyle/>
          <a:p>
            <a:r>
              <a:rPr kumimoji="1" lang="ja-JP" altLang="en-US" dirty="0"/>
              <a:t>システム</a:t>
            </a:r>
          </a:p>
        </p:txBody>
      </p:sp>
      <p:pic>
        <p:nvPicPr>
          <p:cNvPr id="7" name="コンテンツ プレースホルダー 6">
            <a:extLst>
              <a:ext uri="{FF2B5EF4-FFF2-40B4-BE49-F238E27FC236}">
                <a16:creationId xmlns:a16="http://schemas.microsoft.com/office/drawing/2014/main" id="{C85E01F6-9A7E-4B21-B1C8-BE7011A9C25C}"/>
              </a:ext>
            </a:extLst>
          </p:cNvPr>
          <p:cNvPicPr>
            <a:picLocks noGrp="1" noChangeAspect="1"/>
          </p:cNvPicPr>
          <p:nvPr>
            <p:ph idx="1"/>
          </p:nvPr>
        </p:nvPicPr>
        <p:blipFill>
          <a:blip r:embed="rId3"/>
          <a:stretch>
            <a:fillRect/>
          </a:stretch>
        </p:blipFill>
        <p:spPr>
          <a:xfrm>
            <a:off x="7443723" y="3894639"/>
            <a:ext cx="4063208" cy="2545343"/>
          </a:xfrm>
        </p:spPr>
      </p:pic>
      <p:pic>
        <p:nvPicPr>
          <p:cNvPr id="5" name="図 4">
            <a:extLst>
              <a:ext uri="{FF2B5EF4-FFF2-40B4-BE49-F238E27FC236}">
                <a16:creationId xmlns:a16="http://schemas.microsoft.com/office/drawing/2014/main" id="{ACC6D0F4-B924-41C3-8827-C5A083658059}"/>
              </a:ext>
            </a:extLst>
          </p:cNvPr>
          <p:cNvPicPr>
            <a:picLocks noChangeAspect="1"/>
          </p:cNvPicPr>
          <p:nvPr/>
        </p:nvPicPr>
        <p:blipFill rotWithShape="1">
          <a:blip r:embed="rId4"/>
          <a:srcRect l="28389" t="38374" r="49999" b="50082"/>
          <a:stretch/>
        </p:blipFill>
        <p:spPr>
          <a:xfrm>
            <a:off x="1304691" y="1936853"/>
            <a:ext cx="6623826" cy="2211401"/>
          </a:xfrm>
          <a:prstGeom prst="rect">
            <a:avLst/>
          </a:prstGeom>
        </p:spPr>
      </p:pic>
    </p:spTree>
    <p:extLst>
      <p:ext uri="{BB962C8B-B14F-4D97-AF65-F5344CB8AC3E}">
        <p14:creationId xmlns:p14="http://schemas.microsoft.com/office/powerpoint/2010/main" val="3344553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84B716-6F76-48A9-9EF4-DB7F74B36127}"/>
              </a:ext>
            </a:extLst>
          </p:cNvPr>
          <p:cNvSpPr>
            <a:spLocks noGrp="1"/>
          </p:cNvSpPr>
          <p:nvPr>
            <p:ph type="title"/>
          </p:nvPr>
        </p:nvSpPr>
        <p:spPr/>
        <p:txBody>
          <a:bodyPr/>
          <a:lstStyle/>
          <a:p>
            <a:r>
              <a:rPr lang="ja-JP" altLang="en-US" dirty="0"/>
              <a:t>今後の取り組み</a:t>
            </a:r>
            <a:endParaRPr kumimoji="1" lang="ja-JP" altLang="en-US" dirty="0"/>
          </a:p>
        </p:txBody>
      </p:sp>
      <p:sp>
        <p:nvSpPr>
          <p:cNvPr id="3" name="コンテンツ プレースホルダー 2">
            <a:extLst>
              <a:ext uri="{FF2B5EF4-FFF2-40B4-BE49-F238E27FC236}">
                <a16:creationId xmlns:a16="http://schemas.microsoft.com/office/drawing/2014/main" id="{DA0F332F-ACEC-4329-A2F0-A456B9271296}"/>
              </a:ext>
            </a:extLst>
          </p:cNvPr>
          <p:cNvSpPr>
            <a:spLocks noGrp="1"/>
          </p:cNvSpPr>
          <p:nvPr>
            <p:ph idx="1"/>
          </p:nvPr>
        </p:nvSpPr>
        <p:spPr/>
        <p:txBody>
          <a:bodyPr/>
          <a:lstStyle/>
          <a:p>
            <a:r>
              <a:rPr kumimoji="1" lang="ja-JP" altLang="en-US" dirty="0"/>
              <a:t>標的型攻撃の有効性を実証</a:t>
            </a:r>
            <a:endParaRPr lang="ja-JP" altLang="en-US" dirty="0"/>
          </a:p>
          <a:p>
            <a:endParaRPr kumimoji="1" lang="en-US" altLang="ja-JP" dirty="0"/>
          </a:p>
          <a:p>
            <a:endParaRPr lang="en-US" altLang="ja-JP" dirty="0"/>
          </a:p>
          <a:p>
            <a:endParaRPr kumimoji="1" lang="ja-JP" altLang="en-US" dirty="0"/>
          </a:p>
        </p:txBody>
      </p:sp>
    </p:spTree>
    <p:extLst>
      <p:ext uri="{BB962C8B-B14F-4D97-AF65-F5344CB8AC3E}">
        <p14:creationId xmlns:p14="http://schemas.microsoft.com/office/powerpoint/2010/main" val="1658888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DD859-FBFA-4659-8E70-707DA3862BFF}"/>
              </a:ext>
            </a:extLst>
          </p:cNvPr>
          <p:cNvSpPr>
            <a:spLocks noGrp="1"/>
          </p:cNvSpPr>
          <p:nvPr>
            <p:ph type="title"/>
          </p:nvPr>
        </p:nvSpPr>
        <p:spPr/>
        <p:txBody>
          <a:bodyPr/>
          <a:lstStyle/>
          <a:p>
            <a:r>
              <a:rPr kumimoji="1" lang="ja-JP" altLang="en-US" dirty="0"/>
              <a:t>参考文献</a:t>
            </a:r>
          </a:p>
        </p:txBody>
      </p:sp>
      <p:sp>
        <p:nvSpPr>
          <p:cNvPr id="3" name="コンテンツ プレースホルダー 2">
            <a:extLst>
              <a:ext uri="{FF2B5EF4-FFF2-40B4-BE49-F238E27FC236}">
                <a16:creationId xmlns:a16="http://schemas.microsoft.com/office/drawing/2014/main" id="{6B0695E3-CE07-4706-A636-FDBD1FBF626A}"/>
              </a:ext>
            </a:extLst>
          </p:cNvPr>
          <p:cNvSpPr>
            <a:spLocks noGrp="1"/>
          </p:cNvSpPr>
          <p:nvPr>
            <p:ph idx="1"/>
          </p:nvPr>
        </p:nvSpPr>
        <p:spPr/>
        <p:txBody>
          <a:bodyPr/>
          <a:lstStyle/>
          <a:p>
            <a:pPr marL="0" indent="0">
              <a:buNone/>
            </a:pPr>
            <a:r>
              <a:rPr kumimoji="1" lang="en-US" altLang="ja-JP" dirty="0"/>
              <a:t>Web</a:t>
            </a:r>
            <a:r>
              <a:rPr kumimoji="1" lang="ja-JP" altLang="en-US" dirty="0"/>
              <a:t>アプリケーションのための攻撃検出と防御　</a:t>
            </a:r>
            <a:endParaRPr kumimoji="1" lang="en-US" altLang="ja-JP" dirty="0"/>
          </a:p>
          <a:p>
            <a:pPr marL="0" indent="0" algn="r">
              <a:buNone/>
            </a:pPr>
            <a:r>
              <a:rPr kumimoji="1" lang="ja-JP" altLang="en-US" dirty="0"/>
              <a:t>著者　野見山 賢人</a:t>
            </a:r>
            <a:r>
              <a:rPr lang="ja-JP" altLang="en-US" dirty="0"/>
              <a:t>　</a:t>
            </a:r>
            <a:r>
              <a:rPr kumimoji="1" lang="ja-JP" altLang="en-US" dirty="0"/>
              <a:t>小出　洋</a:t>
            </a:r>
            <a:endParaRPr kumimoji="1" lang="en-US" altLang="ja-JP" dirty="0"/>
          </a:p>
          <a:p>
            <a:pPr marL="0" indent="0">
              <a:buNone/>
            </a:pPr>
            <a:endParaRPr kumimoji="1" lang="en-US" altLang="ja-JP" dirty="0"/>
          </a:p>
          <a:p>
            <a:r>
              <a:rPr lang="en-US" altLang="ja-JP" dirty="0"/>
              <a:t>Web Application Firewall (WAF) </a:t>
            </a:r>
            <a:r>
              <a:rPr lang="ja-JP" altLang="en-US" dirty="0"/>
              <a:t>読本  改訂第２版　独立行政法人　情報処理推進機構</a:t>
            </a:r>
            <a:endParaRPr lang="en-US" altLang="ja-JP" dirty="0"/>
          </a:p>
          <a:p>
            <a:endParaRPr kumimoji="1" lang="en-US" altLang="ja-JP" dirty="0"/>
          </a:p>
          <a:p>
            <a:r>
              <a:rPr lang="en-US" altLang="ja-JP" dirty="0"/>
              <a:t>win.kororo.jp/</a:t>
            </a:r>
            <a:r>
              <a:rPr lang="en-US" altLang="ja-JP" dirty="0" err="1"/>
              <a:t>archi</a:t>
            </a:r>
            <a:r>
              <a:rPr lang="en-US" altLang="ja-JP" dirty="0"/>
              <a:t>/security/</a:t>
            </a:r>
            <a:r>
              <a:rPr lang="en-US" altLang="ja-JP" dirty="0" err="1"/>
              <a:t>filtering.php#genkai</a:t>
            </a:r>
            <a:endParaRPr lang="en-US" altLang="ja-JP" dirty="0"/>
          </a:p>
          <a:p>
            <a:endParaRPr kumimoji="1" lang="ja-JP" altLang="en-US" dirty="0"/>
          </a:p>
        </p:txBody>
      </p:sp>
    </p:spTree>
    <p:extLst>
      <p:ext uri="{BB962C8B-B14F-4D97-AF65-F5344CB8AC3E}">
        <p14:creationId xmlns:p14="http://schemas.microsoft.com/office/powerpoint/2010/main" val="2632847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6DBD47-A3A3-463A-B9AF-3B0B859A3B05}"/>
              </a:ext>
            </a:extLst>
          </p:cNvPr>
          <p:cNvSpPr>
            <a:spLocks noGrp="1"/>
          </p:cNvSpPr>
          <p:nvPr>
            <p:ph type="title"/>
          </p:nvPr>
        </p:nvSpPr>
        <p:spPr/>
        <p:txBody>
          <a:bodyPr/>
          <a:lstStyle/>
          <a:p>
            <a:r>
              <a:rPr kumimoji="1" lang="ja-JP" altLang="en-US" dirty="0"/>
              <a:t>パケットフィルタリング</a:t>
            </a:r>
          </a:p>
        </p:txBody>
      </p:sp>
      <p:sp>
        <p:nvSpPr>
          <p:cNvPr id="3" name="コンテンツ プレースホルダー 2">
            <a:extLst>
              <a:ext uri="{FF2B5EF4-FFF2-40B4-BE49-F238E27FC236}">
                <a16:creationId xmlns:a16="http://schemas.microsoft.com/office/drawing/2014/main" id="{C5C6BE3F-7549-4503-A8D9-8095FFFE55F3}"/>
              </a:ext>
            </a:extLst>
          </p:cNvPr>
          <p:cNvSpPr>
            <a:spLocks noGrp="1"/>
          </p:cNvSpPr>
          <p:nvPr>
            <p:ph idx="1"/>
          </p:nvPr>
        </p:nvSpPr>
        <p:spPr/>
        <p:txBody>
          <a:bodyPr/>
          <a:lstStyle/>
          <a:p>
            <a:r>
              <a:rPr lang="ja-JP" altLang="en-US" dirty="0"/>
              <a:t>インターネット上の住所を表す</a:t>
            </a:r>
            <a:r>
              <a:rPr lang="en-US" altLang="ja-JP" dirty="0"/>
              <a:t>IP</a:t>
            </a:r>
            <a:r>
              <a:rPr lang="ja-JP" altLang="en-US" dirty="0"/>
              <a:t>アドレスや通信路を識別するために使われるポート番号に基づいて、通過させたり遮断させたりする。</a:t>
            </a:r>
            <a:endParaRPr lang="en-US" altLang="ja-JP" dirty="0"/>
          </a:p>
          <a:p>
            <a:endParaRPr lang="en-US" altLang="ja-JP" dirty="0"/>
          </a:p>
          <a:p>
            <a:pPr marL="0" indent="0">
              <a:buNone/>
            </a:pPr>
            <a:endParaRPr kumimoji="1" lang="en-US" altLang="ja-JP" dirty="0"/>
          </a:p>
        </p:txBody>
      </p:sp>
      <p:pic>
        <p:nvPicPr>
          <p:cNvPr id="4" name="図 3">
            <a:extLst>
              <a:ext uri="{FF2B5EF4-FFF2-40B4-BE49-F238E27FC236}">
                <a16:creationId xmlns:a16="http://schemas.microsoft.com/office/drawing/2014/main" id="{0037E2D5-CE34-4816-B788-BC12E61420DC}"/>
              </a:ext>
            </a:extLst>
          </p:cNvPr>
          <p:cNvPicPr>
            <a:picLocks noChangeAspect="1"/>
          </p:cNvPicPr>
          <p:nvPr/>
        </p:nvPicPr>
        <p:blipFill>
          <a:blip r:embed="rId3"/>
          <a:stretch>
            <a:fillRect/>
          </a:stretch>
        </p:blipFill>
        <p:spPr>
          <a:xfrm>
            <a:off x="1835888" y="3565360"/>
            <a:ext cx="7945095" cy="2420771"/>
          </a:xfrm>
          <a:prstGeom prst="rect">
            <a:avLst/>
          </a:prstGeom>
        </p:spPr>
      </p:pic>
    </p:spTree>
    <p:extLst>
      <p:ext uri="{BB962C8B-B14F-4D97-AF65-F5344CB8AC3E}">
        <p14:creationId xmlns:p14="http://schemas.microsoft.com/office/powerpoint/2010/main" val="311201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A46555-2CDD-4395-9B63-79065492930F}"/>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387EE854-27F5-45CD-BA5E-4876AEEB55A0}"/>
              </a:ext>
            </a:extLst>
          </p:cNvPr>
          <p:cNvSpPr>
            <a:spLocks noGrp="1"/>
          </p:cNvSpPr>
          <p:nvPr>
            <p:ph idx="1"/>
          </p:nvPr>
        </p:nvSpPr>
        <p:spPr/>
        <p:txBody>
          <a:bodyPr/>
          <a:lstStyle/>
          <a:p>
            <a:r>
              <a:rPr kumimoji="1" lang="ja-JP" altLang="en-US" dirty="0"/>
              <a:t>標的型攻撃に対する訓練で利用されるメールを自動生成するシステムの提案</a:t>
            </a:r>
            <a:endParaRPr kumimoji="1" lang="en-US" altLang="ja-JP" dirty="0"/>
          </a:p>
          <a:p>
            <a:r>
              <a:rPr lang="ja-JP" altLang="en-US" dirty="0"/>
              <a:t>池尻圭佑　塩田智基　徳池達哉　本部建大　檜垣龍徳　後藤田中　喜田弘司</a:t>
            </a:r>
            <a:endParaRPr kumimoji="1" lang="ja-JP" altLang="en-US" dirty="0"/>
          </a:p>
        </p:txBody>
      </p:sp>
    </p:spTree>
    <p:extLst>
      <p:ext uri="{BB962C8B-B14F-4D97-AF65-F5344CB8AC3E}">
        <p14:creationId xmlns:p14="http://schemas.microsoft.com/office/powerpoint/2010/main" val="65921240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1119</TotalTime>
  <Words>1315</Words>
  <Application>Microsoft Office PowerPoint</Application>
  <PresentationFormat>ワイド画面</PresentationFormat>
  <Paragraphs>101</Paragraphs>
  <Slides>14</Slides>
  <Notes>11</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14</vt:i4>
      </vt:variant>
    </vt:vector>
  </HeadingPairs>
  <TitlesOfParts>
    <vt:vector size="20" baseType="lpstr">
      <vt:lpstr>Open Sans</vt:lpstr>
      <vt:lpstr>游ゴシック</vt:lpstr>
      <vt:lpstr>游ゴシック Light</vt:lpstr>
      <vt:lpstr>Arial</vt:lpstr>
      <vt:lpstr>Office テーマ</vt:lpstr>
      <vt:lpstr>Office テーマ</vt:lpstr>
      <vt:lpstr>標的型攻撃を検出するための手法の考案</vt:lpstr>
      <vt:lpstr>研究背景</vt:lpstr>
      <vt:lpstr>研究目的</vt:lpstr>
      <vt:lpstr>ファイアウォール</vt:lpstr>
      <vt:lpstr>ファイアウォールで防げない不正アクセス</vt:lpstr>
      <vt:lpstr>WAF （Webアプリケーションファイアウォール）</vt:lpstr>
      <vt:lpstr>WAF　防ぐことのできない攻撃</vt:lpstr>
      <vt:lpstr>まとめ</vt:lpstr>
      <vt:lpstr>関連研究</vt:lpstr>
      <vt:lpstr>システム</vt:lpstr>
      <vt:lpstr>今後の取り組み</vt:lpstr>
      <vt:lpstr>参考文献</vt:lpstr>
      <vt:lpstr>パケットフィルタリング</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勅使河原　胡桃</dc:creator>
  <cp:lastModifiedBy>勅使河原　胡桃</cp:lastModifiedBy>
  <cp:revision>43</cp:revision>
  <dcterms:created xsi:type="dcterms:W3CDTF">2020-07-20T05:04:05Z</dcterms:created>
  <dcterms:modified xsi:type="dcterms:W3CDTF">2020-08-02T09:03:52Z</dcterms:modified>
</cp:coreProperties>
</file>